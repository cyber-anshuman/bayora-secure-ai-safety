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 id="264" r:id="rId18"/>
  </p:sldIdLst>
  <p:sldSz cx="18288000" cy="10287000"/>
  <p:notesSz cx="6858000" cy="9144000"/>
  <p:embeddedFontLst>
    <p:embeddedFont>
      <p:font typeface="IBM Plex Sans" panose="020B0503050203000203" pitchFamily="34" charset="0"/>
      <p:regular r:id="rId11"/>
      <p:bold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408" y="4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font" Target="fonts/font1.fntdata"/><Relationship Id="rId12" Type="http://schemas.openxmlformats.org/officeDocument/2006/relationships/font" Target="fonts/font2.fntdata"/><Relationship Id="rId13" Type="http://schemas.openxmlformats.org/officeDocument/2006/relationships/font" Target="fonts/font3.fntdata"/><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Welcome everyone. I'm Anshuman Patel, presenting Bayora—a secure multi-tenant platform for adversarial AI safety testing. Today, frontier AI safety requires running mutually distrusting red teams and blue teams against state-of-the-art models. But current cloud environments either leak prompt caches or lack verifiable boundary isolation. In our open-source reference implementation, we demonstrate verified isolation across seven attack classes, achieving a 9/9 pass rate on our formal test suite with 94.08% statement coverage. In the next few minutes, we will walk you through our threat model, our core architecture, our empirical results, and our production roadmap targeting Linux Kata microVMs and Cilium eBPF.</a:t>
            </a: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2 outlines the foundational dilemma of AI safety testing. Traditional cloud multi-tenancy assumes benign, cooperative tenants. In adversarial safety testing, that assumption completely collapses. The red team is actively trying to reverse-engineer defensive heuristics. The blue team wants early visibility into attack payloads. And the subject LLM is a stochastic, prompt-injectable model that can act as a covert exfiltration bridge. In shared environments, residual KV-caches leak previous prompts, and timing jitter can mimic successful jailbreaks. If the evaluation harness itself is permeable, models certified as 'safe' can fail catastrophically when deployed in healthcare or finance. Bayora solves this by enforcing zero-trust evaluation: runtime execution isolation, non-reversible brokering, and tamper-evident audit trails.</a:t>
            </a: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On Slide 3, we detail Bayora's three-pillar architectural solution. First is isolation: in our working PoC, we enforce Node.js worker_threads with strict 64MB and 128MB V8 heap memory caps, targeting Linux Kata microVMs and Cilium eBPF socket policies in production. Second is our deterministic lifecycle: Diagram A illustrates our non-reversible 7-phase state machine. Workloads advance strictly forward from SETUP through RED_TURN, INFERENCE, EVAL, BLUE_TURN, CONCLUDE, to DISCLOSURE. Underneath, model workers follow a strict CREATE-INITIALIZE-TEST-VERIFY-DESTROY lifecycle, verifying golden SHA-256 weights and running automated canary probes to guarantee cold caches. Third is integrity: Diagram D shows our append-only WORM ledger where each entry is SHA-256 chained to its predecessor and anchored in a Merkle tree root, giving auditors mathematical verification without exposing proprietary payloads.</a:t>
            </a:r>
          </a:p>
        </p:txBody>
      </p:sp>
      <p:sp>
        <p:nvSpPr>
          <p:cNvPr id="101" name="Google Shape;101;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4 presents our defense-in-depth architecture. On the left, our topology inspector highlights the five key trust boundaries: Callout 1 is our minimal-privilege Control Plane housing the Broker, OPA PDP, and Vault. Callouts 2 and 4 represent our Red and Blue tenant sandboxes, completely isolated from each other. Callout 3 is our ephemeral Model Worker running in a zero-egress enclave. Callout 5 is our cryptographic WORM audit ledger. On the right, our 5-line production stack pairs Node.js and Kata microVMs with Cilium eBPF default-deny socket policies. Underneath, Diagram C tracks the deterministic five-step data flow: incoming payloads pass mTLS and OPA checks, trigger a fresh model spawn with golden weight verification, execute in complete isolation, validate via automated canary probes, and finally commit the scrubbed transaction into the Merkle root ledger.</a:t>
            </a:r>
          </a:p>
        </p:txBody>
      </p:sp>
      <p:sp>
        <p:nvSpPr>
          <p:cNvPr id="110" name="Google Shape;11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5 provides an end-to-end attack walkthrough illustrating exactly what happens when a red team workload attempts to break isolation. In Step 1, the red tenant submits an exploit payload. In Step 2, the Broker intercepts it, querying the OPA Policy Decision Point to verify scoped capability tokens. In Step 3, if malicious code attempts a cloud metadata IMDS probe at 169.254.169.254 or tries to open a direct socket to the Blue sandbox, Step 4 triggers: Cilium eBPF drops the packet at the kernel socket layer and emits an E_IMDS_DENIED error. Finally, in Step 5, the security violation is hashed into the append-only WORM ledger, updating the Merkle root. In our PoC, this flow is verified live against seven adversarial attack classes with zero test failures.</a:t>
            </a:r>
          </a:p>
        </p:txBody>
      </p:sp>
      <p:sp>
        <p:nvSpPr>
          <p:cNvPr id="119" name="Google Shape;119;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6 presents our empirical verification results. We didn't just design this architecture on paper—we implemented and validated it. On the left, our formal PoC test suite executes nine boundary assertions corresponding to Section S of our technical dossier. Every test passes, validating cross-tenant isolation and V8 memory limits with 94.08% statement coverage. On the right is our Adversarial Attack Simulation Lab. We subjected the harness to seven real-world attack classes: cloud IMDS exfiltration, timing side-channels, prefix-cache leaks, privilege escalation, audit log tampering, canary weight drift, and network chaos injection. Every single probe was intercepted and logged without false positives. Supported benchmarks include AdvBench, JailbreakBench, HarmBench, ToxiGen, and Lakera Gandalf, with additional datasets pending confirmation.</a:t>
            </a:r>
          </a:p>
        </p:txBody>
      </p:sp>
      <p:sp>
        <p:nvSpPr>
          <p:cNvPr id="128" name="Google Shape;128;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7 analyzes our market opportunity, commercial model, and regulatory catalysts. We target four primary user segments: frontier AI developers, enterprise adopters evaluating third-party models, independent auditors, and academic safety researchers. On market sizing, we project a 14.2 billion dollar total addressable market in AI governance and cybersecurity by 2030, though we note these market estimates are illustrative assumptions pending further empirical sourcing. Our revenue model spans cloud verification SaaS, on-premise air-gapped appliances for defense and finance, and cryptographic audit seals. Critically, regulatory tailwinds are massive: the EU AI Act mandates adversarial red teaming and tamper-proof audit trails for general-purpose AI models, while NIST AI RMF guidelines emphasize testbed integrity. Bayora is purpose-built to deliver this compliance layer.</a:t>
            </a:r>
          </a:p>
        </p:txBody>
      </p:sp>
      <p:sp>
        <p:nvSpPr>
          <p:cNvPr id="137" name="Google Shape;13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8 provides our production roadmap and an honest engineering appraisal of our current PoC limitations. Our roadmap spans four phases: hardware TEE confidential computing, autonomous agentic red-teaming swarms, enterprise Kubernetes CI/CD gates, and decentralized provenance federation. Equally important is intellectual honesty about where the PoC stands today: our PoC validates boundary logic using Node.js worker_threads with V8 memory caps, an in-memory Merkle tree, and emulated cold cache lifecycles. Our immediate next milestones are porting these workers into production Linux Kata microVMs, integrating bare-metal Cilium eBPF kernel socket filters, enabling NVIDIA confidential GPU memory encryption, and anchoring Merkle roots into public transparency logs.</a:t>
            </a:r>
          </a:p>
        </p:txBody>
      </p:sp>
      <p:sp>
        <p:nvSpPr>
          <p:cNvPr id="146" name="Google Shape;146;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Thank you for your time and attention. Bayora represents a major step forward in establishing verifiable, zero-trust foundations for frontier AI safety testing. Our complete implementation, test suites, and documentation are open-source on GitHub under Apache-2.0. You can explore the live verification dossier at our demo URL, run our formal test suites, or inspect our WORM audit ledger in real time. We are now open for live demonstrations, questions, and architectural discussions.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2" name="Picture 1" descr="image.png"/>
          <p:cNvPicPr>
            <a:picLocks noChangeAspect="1"/>
          </p:cNvPicPr>
          <p:nvPr/>
        </p:nvPicPr>
        <p:blipFill>
          <a:blip r:embed="rId6"/>
          <a:stretch>
            <a:fillRect/>
          </a:stretch>
        </p:blipFill>
        <p:spPr>
          <a:xfrm>
            <a:off x="0" y="0"/>
            <a:ext cx="18288000" cy="1205517"/>
          </a:xfrm>
          <a:prstGeom prst="rect">
            <a:avLst/>
          </a:prstGeom>
        </p:spPr>
      </p:pic>
      <p:sp>
        <p:nvSpPr>
          <p:cNvPr id="3" name="Rounded Rectangle 2"/>
          <p:cNvSpPr/>
          <p:nvPr/>
        </p:nvSpPr>
        <p:spPr>
          <a:xfrm>
            <a:off x="731520" y="4340000"/>
            <a:ext cx="5500000" cy="360000"/>
          </a:xfrm>
          <a:prstGeom prst="roundRect">
            <a:avLst/>
          </a:prstGeom>
          <a:solidFill>
            <a:srgbClr val="1F3A6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50" b="1">
                <a:solidFill>
                  <a:srgbClr val="FFFFFF"/>
                </a:solidFill>
                <a:latin typeface="Montserrat"/>
              </a:defRPr>
            </a:pPr>
            <a:r>
              <a:t>HACK IN HILL 2026 • ADVANCED AI SAFETY VERIFICATION</a:t>
            </a:r>
          </a:p>
        </p:txBody>
      </p:sp>
      <p:sp>
        <p:nvSpPr>
          <p:cNvPr id="4" name="TextBox 3"/>
          <p:cNvSpPr txBox="1"/>
          <p:nvPr/>
        </p:nvSpPr>
        <p:spPr>
          <a:xfrm>
            <a:off x="731520" y="4800000"/>
            <a:ext cx="8600000" cy="1100000"/>
          </a:xfrm>
          <a:prstGeom prst="rect">
            <a:avLst/>
          </a:prstGeom>
          <a:noFill/>
        </p:spPr>
        <p:txBody>
          <a:bodyPr wrap="square">
            <a:spAutoFit/>
          </a:bodyPr>
          <a:lstStyle/>
          <a:p>
            <a:pPr>
              <a:defRPr sz="5400" b="1">
                <a:solidFill>
                  <a:srgbClr val="191C21"/>
                </a:solidFill>
                <a:latin typeface="Montserrat"/>
              </a:defRPr>
            </a:pPr>
            <a:r>
              <a:t>🛡️ BAYORA</a:t>
            </a:r>
          </a:p>
        </p:txBody>
      </p:sp>
      <p:sp>
        <p:nvSpPr>
          <p:cNvPr id="5" name="TextBox 4"/>
          <p:cNvSpPr txBox="1"/>
          <p:nvPr/>
        </p:nvSpPr>
        <p:spPr>
          <a:xfrm>
            <a:off x="731520" y="5900000"/>
            <a:ext cx="8600000" cy="700000"/>
          </a:xfrm>
          <a:prstGeom prst="rect">
            <a:avLst/>
          </a:prstGeom>
          <a:noFill/>
        </p:spPr>
        <p:txBody>
          <a:bodyPr wrap="square">
            <a:spAutoFit/>
          </a:bodyPr>
          <a:lstStyle/>
          <a:p>
            <a:pPr>
              <a:defRPr sz="1700" b="1">
                <a:solidFill>
                  <a:srgbClr val="0066CC"/>
                </a:solidFill>
                <a:latin typeface="Montserrat"/>
              </a:defRPr>
            </a:pPr>
            <a:r>
              <a:t>Secure Multi-Tenant Adversarial AI Safety Testing Platform</a:t>
            </a:r>
          </a:p>
        </p:txBody>
      </p:sp>
      <p:sp>
        <p:nvSpPr>
          <p:cNvPr id="6" name="TextBox 5"/>
          <p:cNvSpPr txBox="1"/>
          <p:nvPr/>
        </p:nvSpPr>
        <p:spPr>
          <a:xfrm>
            <a:off x="731520" y="6650000"/>
            <a:ext cx="8600000" cy="1200000"/>
          </a:xfrm>
          <a:prstGeom prst="rect">
            <a:avLst/>
          </a:prstGeom>
          <a:noFill/>
        </p:spPr>
        <p:txBody>
          <a:bodyPr wrap="square">
            <a:spAutoFit/>
          </a:bodyPr>
          <a:lstStyle/>
          <a:p>
            <a:pPr>
              <a:defRPr sz="1450">
                <a:solidFill>
                  <a:srgbClr val="2D3748"/>
                </a:solidFill>
                <a:latin typeface="IBM Plex Sans"/>
              </a:defRPr>
            </a:pPr>
            <a:r>
              <a:t>Open-source testing harness running mutually distrusting Red Teams, Blue Teams, and Subject LLMs on shared compute with verified isolation across 7 attack classes in the PoC and tamper-evident cryptographic WORM audit provenance.</a:t>
            </a:r>
          </a:p>
        </p:txBody>
      </p:sp>
      <p:sp>
        <p:nvSpPr>
          <p:cNvPr id="7" name="Rounded Rectangle 6"/>
          <p:cNvSpPr/>
          <p:nvPr/>
        </p:nvSpPr>
        <p:spPr>
          <a:xfrm>
            <a:off x="731520" y="8150000"/>
            <a:ext cx="2050000" cy="340000"/>
          </a:xfrm>
          <a:prstGeom prst="roundRect">
            <a:avLst/>
          </a:prstGeom>
          <a:solidFill>
            <a:srgbClr val="1F3A6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Montserrat"/>
              </a:defRPr>
            </a:pPr>
            <a:r>
              <a:t>🔒 worker_threads (Kata target)</a:t>
            </a:r>
          </a:p>
        </p:txBody>
      </p:sp>
      <p:sp>
        <p:nvSpPr>
          <p:cNvPr id="8" name="Rounded Rectangle 7"/>
          <p:cNvSpPr/>
          <p:nvPr/>
        </p:nvSpPr>
        <p:spPr>
          <a:xfrm>
            <a:off x="2881520" y="8150000"/>
            <a:ext cx="2050000" cy="340000"/>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Montserrat"/>
              </a:defRPr>
            </a:pPr>
            <a:r>
              <a:t>⚡ Cilium eBPF (Prod target)</a:t>
            </a:r>
          </a:p>
        </p:txBody>
      </p:sp>
      <p:sp>
        <p:nvSpPr>
          <p:cNvPr id="9" name="Rounded Rectangle 8"/>
          <p:cNvSpPr/>
          <p:nvPr/>
        </p:nvSpPr>
        <p:spPr>
          <a:xfrm>
            <a:off x="5031520" y="8150000"/>
            <a:ext cx="2050000" cy="340000"/>
          </a:xfrm>
          <a:prstGeom prst="roundRect">
            <a:avLst/>
          </a:prstGeom>
          <a:solidFill>
            <a:srgbClr val="5A457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Montserrat"/>
              </a:defRPr>
            </a:pPr>
            <a:r>
              <a:t>🔄 Canary Verification</a:t>
            </a:r>
          </a:p>
        </p:txBody>
      </p:sp>
      <p:sp>
        <p:nvSpPr>
          <p:cNvPr id="10" name="Rounded Rectangle 9"/>
          <p:cNvSpPr/>
          <p:nvPr/>
        </p:nvSpPr>
        <p:spPr>
          <a:xfrm>
            <a:off x="7181520" y="8150000"/>
            <a:ext cx="2050000" cy="340000"/>
          </a:xfrm>
          <a:prstGeom prst="roundRect">
            <a:avLst/>
          </a:prstGeom>
          <a:solidFill>
            <a:srgbClr val="1B663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Montserrat"/>
              </a:defRPr>
            </a:pPr>
            <a:r>
              <a:t>📜 Tamper-Evident WORM</a:t>
            </a:r>
          </a:p>
        </p:txBody>
      </p:sp>
      <p:sp>
        <p:nvSpPr>
          <p:cNvPr id="11" name="Rounded Rectangle 10"/>
          <p:cNvSpPr/>
          <p:nvPr/>
        </p:nvSpPr>
        <p:spPr>
          <a:xfrm>
            <a:off x="9800000" y="4340000"/>
            <a:ext cx="7756480" cy="4400000"/>
          </a:xfrm>
          <a:prstGeom prst="roundRect">
            <a:avLst/>
          </a:prstGeom>
          <a:solidFill>
            <a:srgbClr val="F9FBFD"/>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100000" y="4550000"/>
            <a:ext cx="4500000" cy="340000"/>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100" b="1">
                <a:solidFill>
                  <a:srgbClr val="FFFFFF"/>
                </a:solidFill>
                <a:latin typeface="Montserrat"/>
              </a:defRPr>
            </a:pPr>
            <a:r>
              <a:t>TEAM &amp; PROJECT SPECIFICATION</a:t>
            </a:r>
          </a:p>
        </p:txBody>
      </p:sp>
      <p:sp>
        <p:nvSpPr>
          <p:cNvPr id="13" name="TextBox 12"/>
          <p:cNvSpPr txBox="1"/>
          <p:nvPr/>
        </p:nvSpPr>
        <p:spPr>
          <a:xfrm>
            <a:off x="10100000" y="5100000"/>
            <a:ext cx="7200000" cy="3400000"/>
          </a:xfrm>
          <a:prstGeom prst="rect">
            <a:avLst/>
          </a:prstGeom>
          <a:noFill/>
        </p:spPr>
        <p:txBody>
          <a:bodyPr wrap="square">
            <a:spAutoFit/>
          </a:bodyPr>
          <a:lstStyle/>
          <a:p>
            <a:pPr>
              <a:spcAft>
                <a:spcPts val="1400"/>
              </a:spcAft>
            </a:pPr>
            <a:r>
              <a:rPr sz="1500" b="1">
                <a:solidFill>
                  <a:srgbClr val="191C21"/>
                </a:solidFill>
                <a:latin typeface="IBM Plex Sans"/>
              </a:rPr>
              <a:t>• Team Name: </a:t>
            </a:r>
            <a:r>
              <a:rPr sz="1500">
                <a:solidFill>
                  <a:srgbClr val="2D3748"/>
                </a:solidFill>
                <a:latin typeface="IBM Plex Sans"/>
              </a:rPr>
              <a:t>Bayora Security &amp; Architecture</a:t>
            </a:r>
          </a:p>
          <a:p>
            <a:pPr>
              <a:spcAft>
                <a:spcPts val="1400"/>
              </a:spcAft>
            </a:pPr>
            <a:r>
              <a:rPr sz="1500" b="1">
                <a:solidFill>
                  <a:srgbClr val="191C21"/>
                </a:solidFill>
                <a:latin typeface="IBM Plex Sans"/>
              </a:rPr>
              <a:t>• Lead Architect: </a:t>
            </a:r>
            <a:r>
              <a:rPr sz="1500">
                <a:solidFill>
                  <a:srgbClr val="2D3748"/>
                </a:solidFill>
                <a:latin typeface="IBM Plex Sans"/>
              </a:rPr>
              <a:t>Anshuman Patel (Lead / Systems Architect)</a:t>
            </a:r>
          </a:p>
          <a:p>
            <a:pPr>
              <a:spcAft>
                <a:spcPts val="1400"/>
              </a:spcAft>
            </a:pPr>
            <a:r>
              <a:rPr sz="1500" b="1">
                <a:solidFill>
                  <a:srgbClr val="191C21"/>
                </a:solidFill>
                <a:latin typeface="IBM Plex Sans"/>
              </a:rPr>
              <a:t>• Repository: </a:t>
            </a:r>
            <a:r>
              <a:rPr sz="1500">
                <a:solidFill>
                  <a:srgbClr val="2D3748"/>
                </a:solidFill>
                <a:latin typeface="IBM Plex Sans"/>
              </a:rPr>
              <a:t>https://github.com/cyber-anshuman/bayora-secure-ai-safety</a:t>
            </a:r>
          </a:p>
          <a:p>
            <a:pPr>
              <a:spcAft>
                <a:spcPts val="1400"/>
              </a:spcAft>
            </a:pPr>
            <a:r>
              <a:rPr sz="1500" b="1">
                <a:solidFill>
                  <a:srgbClr val="191C21"/>
                </a:solidFill>
                <a:latin typeface="IBM Plex Sans"/>
              </a:rPr>
              <a:t>• PoC Test Suite: </a:t>
            </a:r>
            <a:r>
              <a:rPr sz="1500">
                <a:solidFill>
                  <a:srgbClr val="2D3748"/>
                </a:solidFill>
                <a:latin typeface="IBM Plex Sans"/>
              </a:rPr>
              <a:t>9/9 Formal Tests Passed (100% Boundary Isolation)</a:t>
            </a:r>
          </a:p>
          <a:p>
            <a:pPr>
              <a:spcAft>
                <a:spcPts val="1400"/>
              </a:spcAft>
            </a:pPr>
            <a:r>
              <a:rPr sz="1500" b="1">
                <a:solidFill>
                  <a:srgbClr val="191C21"/>
                </a:solidFill>
                <a:latin typeface="IBM Plex Sans"/>
              </a:rPr>
              <a:t>• Test Coverage: </a:t>
            </a:r>
            <a:r>
              <a:rPr sz="1500">
                <a:solidFill>
                  <a:srgbClr val="2D3748"/>
                </a:solidFill>
                <a:latin typeface="IBM Plex Sans"/>
              </a:rPr>
              <a:t>94.08% Statements (nyc code coverage)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8288000" cy="1205517"/>
          </a:xfrm>
          <a:prstGeom prst="rect">
            <a:avLst/>
          </a:prstGeom>
        </p:spPr>
      </p:pic>
      <p:sp>
        <p:nvSpPr>
          <p:cNvPr id="3" name="TextBox 2"/>
          <p:cNvSpPr txBox="1"/>
          <p:nvPr/>
        </p:nvSpPr>
        <p:spPr>
          <a:xfrm>
            <a:off x="731520" y="1220000"/>
            <a:ext cx="16824960" cy="450000"/>
          </a:xfrm>
          <a:prstGeom prst="rect">
            <a:avLst/>
          </a:prstGeom>
          <a:noFill/>
        </p:spPr>
        <p:txBody>
          <a:bodyPr wrap="square" lIns="0" tIns="0" rIns="0" bIns="0">
            <a:spAutoFit/>
          </a:bodyPr>
          <a:lstStyle/>
          <a:p>
            <a:pPr>
              <a:defRPr sz="2400" b="1">
                <a:solidFill>
                  <a:srgbClr val="191C21"/>
                </a:solidFill>
                <a:latin typeface="Montserrat"/>
              </a:defRPr>
            </a:pPr>
            <a:r>
              <a:t>PROBLEM STATEMENT &amp; THEME</a:t>
            </a:r>
          </a:p>
        </p:txBody>
      </p:sp>
      <p:sp>
        <p:nvSpPr>
          <p:cNvPr id="4" name="TextBox 3"/>
          <p:cNvSpPr txBox="1"/>
          <p:nvPr/>
        </p:nvSpPr>
        <p:spPr>
          <a:xfrm>
            <a:off x="731520" y="1700000"/>
            <a:ext cx="16824960" cy="380000"/>
          </a:xfrm>
          <a:prstGeom prst="rect">
            <a:avLst/>
          </a:prstGeom>
          <a:noFill/>
        </p:spPr>
        <p:txBody>
          <a:bodyPr wrap="square" lIns="0" tIns="0" rIns="0" bIns="0">
            <a:spAutoFit/>
          </a:bodyPr>
          <a:lstStyle/>
          <a:p>
            <a:pPr>
              <a:defRPr sz="1250" b="1">
                <a:solidFill>
                  <a:srgbClr val="565D6C"/>
                </a:solidFill>
                <a:latin typeface="Montserrat"/>
              </a:defRPr>
            </a:pPr>
            <a:r>
              <a:t>The Multi-Tenant Adversarial AI Dilemma &amp; Trust Boundary Collapse</a:t>
            </a:r>
          </a:p>
        </p:txBody>
      </p:sp>
      <p:sp>
        <p:nvSpPr>
          <p:cNvPr id="5" name="Rounded Rectangle 4"/>
          <p:cNvSpPr/>
          <p:nvPr/>
        </p:nvSpPr>
        <p:spPr>
          <a:xfrm>
            <a:off x="731520" y="2200000"/>
            <a:ext cx="5180000" cy="7100000"/>
          </a:xfrm>
          <a:prstGeom prst="roundRect">
            <a:avLst/>
          </a:prstGeom>
          <a:solidFill>
            <a:srgbClr val="F9FBFD"/>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2380000"/>
            <a:ext cx="2800000" cy="300000"/>
          </a:xfrm>
          <a:prstGeom prst="roundRect">
            <a:avLst/>
          </a:prstGeom>
          <a:solidFill>
            <a:srgbClr val="A4232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50" b="1">
                <a:solidFill>
                  <a:srgbClr val="FFFFFF"/>
                </a:solidFill>
                <a:latin typeface="Montserrat"/>
              </a:defRPr>
            </a:pPr>
            <a:r>
              <a:t>THE CORE PROBLEM</a:t>
            </a:r>
          </a:p>
        </p:txBody>
      </p:sp>
      <p:sp>
        <p:nvSpPr>
          <p:cNvPr id="7" name="TextBox 6"/>
          <p:cNvSpPr txBox="1"/>
          <p:nvPr/>
        </p:nvSpPr>
        <p:spPr>
          <a:xfrm>
            <a:off x="960120" y="2800000"/>
            <a:ext cx="4722800" cy="4900000"/>
          </a:xfrm>
          <a:prstGeom prst="rect">
            <a:avLst/>
          </a:prstGeom>
          <a:noFill/>
        </p:spPr>
        <p:txBody>
          <a:bodyPr wrap="square">
            <a:spAutoFit/>
          </a:bodyPr>
          <a:lstStyle/>
          <a:p>
            <a:pPr>
              <a:spcAft>
                <a:spcPts val="1600"/>
              </a:spcAft>
              <a:defRPr sz="1600" b="1">
                <a:solidFill>
                  <a:srgbClr val="191C21"/>
                </a:solidFill>
                <a:latin typeface="Montserrat"/>
              </a:defRPr>
            </a:pPr>
            <a:r>
              <a:t>Mutually Hostile Multi-Tenancy</a:t>
            </a:r>
          </a:p>
          <a:p>
            <a:pPr>
              <a:spcAft>
                <a:spcPts val="1400"/>
              </a:spcAft>
            </a:pPr>
            <a:r>
              <a:rPr sz="1450" b="1">
                <a:solidFill>
                  <a:srgbClr val="191C21"/>
                </a:solidFill>
                <a:latin typeface="IBM Plex Sans"/>
              </a:rPr>
              <a:t>• Active Adversaries: </a:t>
            </a:r>
            <a:r>
              <a:rPr sz="1450">
                <a:solidFill>
                  <a:srgbClr val="2D3748"/>
                </a:solidFill>
                <a:latin typeface="IBM Plex Sans"/>
              </a:rPr>
              <a:t>Tenants actively attempt to breach testbed boundaries.</a:t>
            </a:r>
          </a:p>
          <a:p>
            <a:pPr>
              <a:spcAft>
                <a:spcPts val="1400"/>
              </a:spcAft>
            </a:pPr>
            <a:r>
              <a:rPr sz="1450" b="1">
                <a:solidFill>
                  <a:srgbClr val="191C21"/>
                </a:solidFill>
                <a:latin typeface="IBM Plex Sans"/>
              </a:rPr>
              <a:t>• Red Team Incentives: </a:t>
            </a:r>
            <a:r>
              <a:rPr sz="1450">
                <a:solidFill>
                  <a:srgbClr val="2D3748"/>
                </a:solidFill>
                <a:latin typeface="IBM Plex Sans"/>
              </a:rPr>
              <a:t>Probe defensive heuristics to craft evasive jailbreaks.</a:t>
            </a:r>
          </a:p>
          <a:p>
            <a:pPr>
              <a:spcAft>
                <a:spcPts val="1400"/>
              </a:spcAft>
            </a:pPr>
            <a:r>
              <a:rPr sz="1450" b="1">
                <a:solidFill>
                  <a:srgbClr val="191C21"/>
                </a:solidFill>
                <a:latin typeface="IBM Plex Sans"/>
              </a:rPr>
              <a:t>• Blue Team Incentives: </a:t>
            </a:r>
            <a:r>
              <a:rPr sz="1450">
                <a:solidFill>
                  <a:srgbClr val="2D3748"/>
                </a:solidFill>
                <a:latin typeface="IBM Plex Sans"/>
              </a:rPr>
              <a:t>Inspect upcoming attacks early to artificially inflate scores.</a:t>
            </a:r>
          </a:p>
          <a:p>
            <a:pPr>
              <a:spcAft>
                <a:spcPts val="1400"/>
              </a:spcAft>
            </a:pPr>
            <a:r>
              <a:rPr sz="1450" b="1">
                <a:solidFill>
                  <a:srgbClr val="191C21"/>
                </a:solidFill>
                <a:latin typeface="IBM Plex Sans"/>
              </a:rPr>
              <a:t>• Stochastic Exfiltration: </a:t>
            </a:r>
            <a:r>
              <a:rPr sz="1450">
                <a:solidFill>
                  <a:srgbClr val="2D3748"/>
                </a:solidFill>
                <a:latin typeface="IBM Plex Sans"/>
              </a:rPr>
              <a:t>Model acts as bridge via prompt injection or steganography.</a:t>
            </a:r>
          </a:p>
        </p:txBody>
      </p:sp>
      <p:sp>
        <p:nvSpPr>
          <p:cNvPr id="8" name="Rounded Rectangle 7"/>
          <p:cNvSpPr/>
          <p:nvPr/>
        </p:nvSpPr>
        <p:spPr>
          <a:xfrm>
            <a:off x="960120" y="8000000"/>
            <a:ext cx="4722800" cy="1050000"/>
          </a:xfrm>
          <a:prstGeom prst="roundRect">
            <a:avLst/>
          </a:prstGeom>
          <a:solidFill>
            <a:srgbClr val="FFFFFF"/>
          </a:solidFill>
          <a:ln w="15875">
            <a:solidFill>
              <a:srgbClr val="A4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1520" y="8050000"/>
            <a:ext cx="4620000" cy="950000"/>
          </a:xfrm>
          <a:prstGeom prst="rect">
            <a:avLst/>
          </a:prstGeom>
          <a:noFill/>
        </p:spPr>
        <p:txBody>
          <a:bodyPr wrap="square">
            <a:spAutoFit/>
          </a:bodyPr>
          <a:lstStyle/>
          <a:p>
            <a:pPr>
              <a:spcAft>
                <a:spcPts val="200"/>
              </a:spcAft>
              <a:defRPr sz="1050" b="1">
                <a:solidFill>
                  <a:srgbClr val="A42323"/>
                </a:solidFill>
                <a:latin typeface="Montserrat"/>
              </a:defRPr>
            </a:pPr>
            <a:r>
              <a:t>🚨 CORE ARCHITECTURAL PARADOX</a:t>
            </a:r>
          </a:p>
          <a:p>
            <a:pPr>
              <a:defRPr sz="1350" b="1">
                <a:solidFill>
                  <a:srgbClr val="191C21"/>
                </a:solidFill>
                <a:latin typeface="IBM Plex Sans"/>
              </a:defRPr>
            </a:pPr>
            <a:r>
              <a:t>Running 3 mutually hostile parties on shared compute with zero leakage.</a:t>
            </a:r>
          </a:p>
        </p:txBody>
      </p:sp>
      <p:sp>
        <p:nvSpPr>
          <p:cNvPr id="10" name="Rounded Rectangle 9"/>
          <p:cNvSpPr/>
          <p:nvPr/>
        </p:nvSpPr>
        <p:spPr>
          <a:xfrm>
            <a:off x="6550000" y="2200000"/>
            <a:ext cx="5180000" cy="7100000"/>
          </a:xfrm>
          <a:prstGeom prst="roundRect">
            <a:avLst/>
          </a:prstGeom>
          <a:solidFill>
            <a:srgbClr val="F9FBFD"/>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778600" y="2380000"/>
            <a:ext cx="2800000" cy="30000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50" b="1">
                <a:solidFill>
                  <a:srgbClr val="FFFFFF"/>
                </a:solidFill>
                <a:latin typeface="Montserrat"/>
              </a:defRPr>
            </a:pPr>
            <a:r>
              <a:t>REAL-WORLD IMPACT</a:t>
            </a:r>
          </a:p>
        </p:txBody>
      </p:sp>
      <p:sp>
        <p:nvSpPr>
          <p:cNvPr id="12" name="TextBox 11"/>
          <p:cNvSpPr txBox="1"/>
          <p:nvPr/>
        </p:nvSpPr>
        <p:spPr>
          <a:xfrm>
            <a:off x="6778600" y="2800000"/>
            <a:ext cx="4722800" cy="4900000"/>
          </a:xfrm>
          <a:prstGeom prst="rect">
            <a:avLst/>
          </a:prstGeom>
          <a:noFill/>
        </p:spPr>
        <p:txBody>
          <a:bodyPr wrap="square">
            <a:spAutoFit/>
          </a:bodyPr>
          <a:lstStyle/>
          <a:p>
            <a:pPr>
              <a:spcAft>
                <a:spcPts val="1600"/>
              </a:spcAft>
              <a:defRPr sz="1600" b="1">
                <a:solidFill>
                  <a:srgbClr val="191C21"/>
                </a:solidFill>
                <a:latin typeface="Montserrat"/>
              </a:defRPr>
            </a:pPr>
            <a:r>
              <a:t>Catastrophic Failure Modes</a:t>
            </a:r>
          </a:p>
          <a:p>
            <a:pPr>
              <a:spcAft>
                <a:spcPts val="1400"/>
              </a:spcAft>
            </a:pPr>
            <a:r>
              <a:rPr sz="1450" b="1">
                <a:solidFill>
                  <a:srgbClr val="191C21"/>
                </a:solidFill>
                <a:latin typeface="IBM Plex Sans"/>
              </a:rPr>
              <a:t>• KV-Cache Bleed: </a:t>
            </a:r>
            <a:r>
              <a:rPr sz="1450">
                <a:solidFill>
                  <a:srgbClr val="2D3748"/>
                </a:solidFill>
                <a:latin typeface="IBM Plex Sans"/>
              </a:rPr>
              <a:t>Shared GPU cache bleeds tokens across evaluation sessions.</a:t>
            </a:r>
          </a:p>
          <a:p>
            <a:pPr>
              <a:spcAft>
                <a:spcPts val="1400"/>
              </a:spcAft>
            </a:pPr>
            <a:r>
              <a:rPr sz="1450" b="1">
                <a:solidFill>
                  <a:srgbClr val="191C21"/>
                </a:solidFill>
                <a:latin typeface="IBM Plex Sans"/>
              </a:rPr>
              <a:t>• Side-Channel Leaks: </a:t>
            </a:r>
            <a:r>
              <a:rPr sz="1450">
                <a:solidFill>
                  <a:srgbClr val="2D3748"/>
                </a:solidFill>
                <a:latin typeface="IBM Plex Sans"/>
              </a:rPr>
              <a:t>Execution latency and error traces expose defense logic.</a:t>
            </a:r>
          </a:p>
          <a:p>
            <a:pPr>
              <a:spcAft>
                <a:spcPts val="1400"/>
              </a:spcAft>
            </a:pPr>
            <a:r>
              <a:rPr sz="1450" b="1">
                <a:solidFill>
                  <a:srgbClr val="191C21"/>
                </a:solidFill>
                <a:latin typeface="IBM Plex Sans"/>
              </a:rPr>
              <a:t>• Environmental Jitter: </a:t>
            </a:r>
            <a:r>
              <a:rPr sz="1450">
                <a:solidFill>
                  <a:srgbClr val="2D3748"/>
                </a:solidFill>
                <a:latin typeface="IBM Plex Sans"/>
              </a:rPr>
              <a:t>Infrastructure timeouts mimic false jailbreaks, skewing benchmarks.</a:t>
            </a:r>
          </a:p>
          <a:p>
            <a:pPr>
              <a:spcAft>
                <a:spcPts val="1400"/>
              </a:spcAft>
            </a:pPr>
            <a:r>
              <a:rPr sz="1450" b="1">
                <a:solidFill>
                  <a:srgbClr val="191C21"/>
                </a:solidFill>
                <a:latin typeface="IBM Plex Sans"/>
              </a:rPr>
              <a:t>• Dangerous Deployments: </a:t>
            </a:r>
            <a:r>
              <a:rPr sz="1450">
                <a:solidFill>
                  <a:srgbClr val="2D3748"/>
                </a:solidFill>
                <a:latin typeface="IBM Plex Sans"/>
              </a:rPr>
              <a:t>Flawed evaluations certify unsafe models into critical infrastructure.</a:t>
            </a:r>
          </a:p>
        </p:txBody>
      </p:sp>
      <p:sp>
        <p:nvSpPr>
          <p:cNvPr id="13" name="Rounded Rectangle 12"/>
          <p:cNvSpPr/>
          <p:nvPr/>
        </p:nvSpPr>
        <p:spPr>
          <a:xfrm>
            <a:off x="6778600" y="8000000"/>
            <a:ext cx="4722800" cy="1050000"/>
          </a:xfrm>
          <a:prstGeom prst="roundRect">
            <a:avLst/>
          </a:prstGeom>
          <a:solidFill>
            <a:srgbClr val="FFFFFF"/>
          </a:solidFill>
          <a:ln w="15875">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0000" y="8050000"/>
            <a:ext cx="4620000" cy="950000"/>
          </a:xfrm>
          <a:prstGeom prst="rect">
            <a:avLst/>
          </a:prstGeom>
          <a:noFill/>
        </p:spPr>
        <p:txBody>
          <a:bodyPr wrap="square">
            <a:spAutoFit/>
          </a:bodyPr>
          <a:lstStyle/>
          <a:p>
            <a:pPr>
              <a:spcAft>
                <a:spcPts val="200"/>
              </a:spcAft>
              <a:defRPr sz="1050" b="1">
                <a:solidFill>
                  <a:srgbClr val="B45309"/>
                </a:solidFill>
                <a:latin typeface="Montserrat"/>
              </a:defRPr>
            </a:pPr>
            <a:r>
              <a:t>⚠️ HIGH SEVERITY CONSEQUENCE</a:t>
            </a:r>
          </a:p>
          <a:p>
            <a:pPr>
              <a:defRPr sz="1350" b="1">
                <a:solidFill>
                  <a:srgbClr val="191C21"/>
                </a:solidFill>
                <a:latin typeface="IBM Plex Sans"/>
              </a:defRPr>
            </a:pPr>
            <a:r>
              <a:t>False-positive certifications deploy vulnerable weights in healthcare and defense.</a:t>
            </a:r>
          </a:p>
        </p:txBody>
      </p:sp>
      <p:sp>
        <p:nvSpPr>
          <p:cNvPr id="15" name="Rounded Rectangle 14"/>
          <p:cNvSpPr/>
          <p:nvPr/>
        </p:nvSpPr>
        <p:spPr>
          <a:xfrm>
            <a:off x="12370000" y="2200000"/>
            <a:ext cx="5180000" cy="7100000"/>
          </a:xfrm>
          <a:prstGeom prst="roundRect">
            <a:avLst/>
          </a:prstGeom>
          <a:solidFill>
            <a:srgbClr val="F9FBFD"/>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2598600" y="2380000"/>
            <a:ext cx="2800000" cy="300000"/>
          </a:xfrm>
          <a:prstGeom prst="roundRect">
            <a:avLst/>
          </a:prstGeom>
          <a:solidFill>
            <a:srgbClr val="1F3A6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50" b="1">
                <a:solidFill>
                  <a:srgbClr val="FFFFFF"/>
                </a:solidFill>
                <a:latin typeface="Montserrat"/>
              </a:defRPr>
            </a:pPr>
            <a:r>
              <a:t>THEME ALIGNMENT</a:t>
            </a:r>
          </a:p>
        </p:txBody>
      </p:sp>
      <p:sp>
        <p:nvSpPr>
          <p:cNvPr id="17" name="TextBox 16"/>
          <p:cNvSpPr txBox="1"/>
          <p:nvPr/>
        </p:nvSpPr>
        <p:spPr>
          <a:xfrm>
            <a:off x="12598600" y="2800000"/>
            <a:ext cx="4722800" cy="4900000"/>
          </a:xfrm>
          <a:prstGeom prst="rect">
            <a:avLst/>
          </a:prstGeom>
          <a:noFill/>
        </p:spPr>
        <p:txBody>
          <a:bodyPr wrap="square">
            <a:spAutoFit/>
          </a:bodyPr>
          <a:lstStyle/>
          <a:p>
            <a:pPr>
              <a:spcAft>
                <a:spcPts val="1600"/>
              </a:spcAft>
              <a:defRPr sz="1600" b="1">
                <a:solidFill>
                  <a:srgbClr val="191C21"/>
                </a:solidFill>
                <a:latin typeface="Montserrat"/>
              </a:defRPr>
            </a:pPr>
            <a:r>
              <a:t>Zero-Trust AI Safety Verification</a:t>
            </a:r>
          </a:p>
          <a:p>
            <a:pPr>
              <a:spcAft>
                <a:spcPts val="1400"/>
              </a:spcAft>
            </a:pPr>
            <a:r>
              <a:rPr sz="1450" b="1">
                <a:solidFill>
                  <a:srgbClr val="191C21"/>
                </a:solidFill>
                <a:latin typeface="IBM Plex Sans"/>
              </a:rPr>
              <a:t>• Core Premise: </a:t>
            </a:r>
            <a:r>
              <a:rPr sz="1450">
                <a:solidFill>
                  <a:srgbClr val="2D3748"/>
                </a:solidFill>
                <a:latin typeface="IBM Plex Sans"/>
              </a:rPr>
              <a:t>Unverified evaluation harnesses cannot certify frontier AI safety.</a:t>
            </a:r>
          </a:p>
          <a:p>
            <a:pPr>
              <a:spcAft>
                <a:spcPts val="1400"/>
              </a:spcAft>
            </a:pPr>
            <a:r>
              <a:rPr sz="1450" b="1">
                <a:solidFill>
                  <a:srgbClr val="191C21"/>
                </a:solidFill>
                <a:latin typeface="IBM Plex Sans"/>
              </a:rPr>
              <a:t>• PoC Implementation: </a:t>
            </a:r>
            <a:r>
              <a:rPr sz="1450">
                <a:solidFill>
                  <a:srgbClr val="2D3748"/>
                </a:solidFill>
                <a:latin typeface="IBM Plex Sans"/>
              </a:rPr>
              <a:t>Node.js worker_threads with strict V8 heap memory bounds.</a:t>
            </a:r>
          </a:p>
          <a:p>
            <a:pPr>
              <a:spcAft>
                <a:spcPts val="1400"/>
              </a:spcAft>
            </a:pPr>
            <a:r>
              <a:rPr sz="1450" b="1">
                <a:solidFill>
                  <a:srgbClr val="191C21"/>
                </a:solidFill>
                <a:latin typeface="IBM Plex Sans"/>
              </a:rPr>
              <a:t>• Production Target: </a:t>
            </a:r>
            <a:r>
              <a:rPr sz="1450">
                <a:solidFill>
                  <a:srgbClr val="2D3748"/>
                </a:solidFill>
                <a:latin typeface="IBM Plex Sans"/>
              </a:rPr>
              <a:t>Enforces Kata microVMs and Cilium eBPF network enclaves.</a:t>
            </a:r>
          </a:p>
          <a:p>
            <a:pPr>
              <a:spcAft>
                <a:spcPts val="1400"/>
              </a:spcAft>
            </a:pPr>
            <a:r>
              <a:rPr sz="1450" b="1">
                <a:solidFill>
                  <a:srgbClr val="191C21"/>
                </a:solidFill>
                <a:latin typeface="IBM Plex Sans"/>
              </a:rPr>
              <a:t>• Regulatory Alignment: </a:t>
            </a:r>
            <a:r>
              <a:rPr sz="1450">
                <a:solidFill>
                  <a:srgbClr val="2D3748"/>
                </a:solidFill>
                <a:latin typeface="IBM Plex Sans"/>
              </a:rPr>
              <a:t>Tamper-evident WORM provenance supports EU AI Act compliance.</a:t>
            </a:r>
          </a:p>
        </p:txBody>
      </p:sp>
      <p:sp>
        <p:nvSpPr>
          <p:cNvPr id="18" name="Rounded Rectangle 17"/>
          <p:cNvSpPr/>
          <p:nvPr/>
        </p:nvSpPr>
        <p:spPr>
          <a:xfrm>
            <a:off x="12598600" y="8000000"/>
            <a:ext cx="4722800" cy="1050000"/>
          </a:xfrm>
          <a:prstGeom prst="roundRect">
            <a:avLst/>
          </a:prstGeom>
          <a:solidFill>
            <a:srgbClr val="FFFFFF"/>
          </a:solidFill>
          <a:ln w="15875">
            <a:solidFill>
              <a:srgbClr val="1F3A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650000" y="8050000"/>
            <a:ext cx="4620000" cy="950000"/>
          </a:xfrm>
          <a:prstGeom prst="rect">
            <a:avLst/>
          </a:prstGeom>
          <a:noFill/>
        </p:spPr>
        <p:txBody>
          <a:bodyPr wrap="square">
            <a:spAutoFit/>
          </a:bodyPr>
          <a:lstStyle/>
          <a:p>
            <a:pPr>
              <a:spcAft>
                <a:spcPts val="200"/>
              </a:spcAft>
              <a:defRPr sz="1050" b="1">
                <a:solidFill>
                  <a:srgbClr val="1F3A60"/>
                </a:solidFill>
                <a:latin typeface="Montserrat"/>
              </a:defRPr>
            </a:pPr>
            <a:r>
              <a:t>🎯 HACKATHON VALUE PROPOSITION</a:t>
            </a:r>
          </a:p>
          <a:p>
            <a:pPr>
              <a:defRPr sz="1350" b="1">
                <a:solidFill>
                  <a:srgbClr val="191C21"/>
                </a:solidFill>
                <a:latin typeface="IBM Plex Sans"/>
              </a:defRPr>
            </a:pPr>
            <a:r>
              <a:t>Provides verifiable, tamper-evident evaluation harnesses for frontier AI safety.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8288000" cy="1205517"/>
          </a:xfrm>
          <a:prstGeom prst="rect">
            <a:avLst/>
          </a:prstGeom>
        </p:spPr>
      </p:pic>
      <p:sp>
        <p:nvSpPr>
          <p:cNvPr id="3" name="TextBox 2"/>
          <p:cNvSpPr txBox="1"/>
          <p:nvPr/>
        </p:nvSpPr>
        <p:spPr>
          <a:xfrm>
            <a:off x="731520" y="1220000"/>
            <a:ext cx="16824960" cy="450000"/>
          </a:xfrm>
          <a:prstGeom prst="rect">
            <a:avLst/>
          </a:prstGeom>
          <a:noFill/>
        </p:spPr>
        <p:txBody>
          <a:bodyPr wrap="square" lIns="0" tIns="0" rIns="0" bIns="0">
            <a:spAutoFit/>
          </a:bodyPr>
          <a:lstStyle/>
          <a:p>
            <a:pPr>
              <a:defRPr sz="2400" b="1">
                <a:solidFill>
                  <a:srgbClr val="191C21"/>
                </a:solidFill>
                <a:latin typeface="Montserrat"/>
              </a:defRPr>
            </a:pPr>
            <a:r>
              <a:t>SOLUTION</a:t>
            </a:r>
          </a:p>
        </p:txBody>
      </p:sp>
      <p:sp>
        <p:nvSpPr>
          <p:cNvPr id="4" name="TextBox 3"/>
          <p:cNvSpPr txBox="1"/>
          <p:nvPr/>
        </p:nvSpPr>
        <p:spPr>
          <a:xfrm>
            <a:off x="731520" y="1700000"/>
            <a:ext cx="16824960" cy="380000"/>
          </a:xfrm>
          <a:prstGeom prst="rect">
            <a:avLst/>
          </a:prstGeom>
          <a:noFill/>
        </p:spPr>
        <p:txBody>
          <a:bodyPr wrap="square" lIns="0" tIns="0" rIns="0" bIns="0">
            <a:spAutoFit/>
          </a:bodyPr>
          <a:lstStyle/>
          <a:p>
            <a:pPr>
              <a:defRPr sz="1250" b="1">
                <a:solidFill>
                  <a:srgbClr val="565D6C"/>
                </a:solidFill>
                <a:latin typeface="Montserrat"/>
              </a:defRPr>
            </a:pPr>
            <a:r>
              <a:t>Hardware-Isolated Zero-Trust Verification Architecture &amp; Provenance Engine</a:t>
            </a:r>
          </a:p>
        </p:txBody>
      </p:sp>
      <p:sp>
        <p:nvSpPr>
          <p:cNvPr id="5" name="Rounded Rectangle 4"/>
          <p:cNvSpPr/>
          <p:nvPr/>
        </p:nvSpPr>
        <p:spPr>
          <a:xfrm>
            <a:off x="731520" y="2180000"/>
            <a:ext cx="16824960" cy="760000"/>
          </a:xfrm>
          <a:prstGeom prst="roundRect">
            <a:avLst/>
          </a:prstGeom>
          <a:solidFill>
            <a:srgbClr val="F9FBFD"/>
          </a:solidFill>
          <a:ln w="15875">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000" y="2220000"/>
            <a:ext cx="16400000" cy="680000"/>
          </a:xfrm>
          <a:prstGeom prst="rect">
            <a:avLst/>
          </a:prstGeom>
          <a:noFill/>
        </p:spPr>
        <p:txBody>
          <a:bodyPr wrap="square">
            <a:spAutoFit/>
          </a:bodyPr>
          <a:lstStyle/>
          <a:p>
            <a:pPr>
              <a:defRPr sz="1400">
                <a:solidFill>
                  <a:srgbClr val="2D3748"/>
                </a:solidFill>
                <a:latin typeface="IBM Plex Sans"/>
              </a:defRPr>
            </a:pPr>
            <a:r>
              <a:t>Bayora isolates Red, Blue, and Subject LLMs using dedicated worker_threads in PoC (targeting Kata microVMs in production), non-reversible state machine mediation, and tamper-evident WORM provenance.</a:t>
            </a:r>
          </a:p>
        </p:txBody>
      </p:sp>
      <p:sp>
        <p:nvSpPr>
          <p:cNvPr id="7" name="Rounded Rectangle 6"/>
          <p:cNvSpPr/>
          <p:nvPr/>
        </p:nvSpPr>
        <p:spPr>
          <a:xfrm>
            <a:off x="731520" y="3020000"/>
            <a:ext cx="16824960" cy="2550000"/>
          </a:xfrm>
          <a:prstGeom prst="roundRect">
            <a:avLst/>
          </a:prstGeom>
          <a:solidFill>
            <a:srgbClr val="FFFFFF"/>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50000" y="3120000"/>
            <a:ext cx="6800000" cy="280000"/>
          </a:xfrm>
          <a:prstGeom prst="roundRect">
            <a:avLst/>
          </a:prstGeom>
          <a:solidFill>
            <a:srgbClr val="1F3A6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Montserrat"/>
              </a:defRPr>
            </a:pPr>
            <a:r>
              <a:t>DIAGRAM A: 7-PHASE STATE MACHINE &amp; MODEL LIFECYCLE</a:t>
            </a:r>
          </a:p>
        </p:txBody>
      </p:sp>
      <p:sp>
        <p:nvSpPr>
          <p:cNvPr id="9" name="Rounded Rectangle 8"/>
          <p:cNvSpPr/>
          <p:nvPr/>
        </p:nvSpPr>
        <p:spPr>
          <a:xfrm>
            <a:off x="950000" y="3520000"/>
            <a:ext cx="2000000" cy="460000"/>
          </a:xfrm>
          <a:prstGeom prst="roundRect">
            <a:avLst/>
          </a:prstGeom>
          <a:solidFill>
            <a:srgbClr val="EEF4FC"/>
          </a:solidFill>
          <a:ln w="15875">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F3A60"/>
                </a:solidFill>
                <a:latin typeface="Montserrat"/>
              </a:defRPr>
            </a:pPr>
            <a:r>
              <a:t>1. SETUP</a:t>
            </a:r>
          </a:p>
        </p:txBody>
      </p:sp>
      <p:sp>
        <p:nvSpPr>
          <p:cNvPr id="10" name="Right Arrow 9"/>
          <p:cNvSpPr/>
          <p:nvPr/>
        </p:nvSpPr>
        <p:spPr>
          <a:xfrm>
            <a:off x="2990000" y="3650000"/>
            <a:ext cx="240000" cy="200000"/>
          </a:xfrm>
          <a:prstGeom prst="rightArrow">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270000" y="3520000"/>
            <a:ext cx="2000000" cy="460000"/>
          </a:xfrm>
          <a:prstGeom prst="roundRect">
            <a:avLst/>
          </a:prstGeom>
          <a:solidFill>
            <a:srgbClr val="EEF4FC"/>
          </a:solidFill>
          <a:ln w="15875">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F3A60"/>
                </a:solidFill>
                <a:latin typeface="Montserrat"/>
              </a:defRPr>
            </a:pPr>
            <a:r>
              <a:t>2. RED_TURN</a:t>
            </a:r>
          </a:p>
        </p:txBody>
      </p:sp>
      <p:sp>
        <p:nvSpPr>
          <p:cNvPr id="12" name="Right Arrow 11"/>
          <p:cNvSpPr/>
          <p:nvPr/>
        </p:nvSpPr>
        <p:spPr>
          <a:xfrm>
            <a:off x="5310000" y="3650000"/>
            <a:ext cx="240000" cy="200000"/>
          </a:xfrm>
          <a:prstGeom prst="rightArrow">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590000" y="3520000"/>
            <a:ext cx="2000000" cy="460000"/>
          </a:xfrm>
          <a:prstGeom prst="roundRect">
            <a:avLst/>
          </a:prstGeom>
          <a:solidFill>
            <a:srgbClr val="EEF4FC"/>
          </a:solidFill>
          <a:ln w="15875">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F3A60"/>
                </a:solidFill>
                <a:latin typeface="Montserrat"/>
              </a:defRPr>
            </a:pPr>
            <a:r>
              <a:t>3. INFERENCE</a:t>
            </a:r>
          </a:p>
        </p:txBody>
      </p:sp>
      <p:sp>
        <p:nvSpPr>
          <p:cNvPr id="14" name="Right Arrow 13"/>
          <p:cNvSpPr/>
          <p:nvPr/>
        </p:nvSpPr>
        <p:spPr>
          <a:xfrm>
            <a:off x="7630000" y="3650000"/>
            <a:ext cx="240000" cy="200000"/>
          </a:xfrm>
          <a:prstGeom prst="rightArrow">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910000" y="3520000"/>
            <a:ext cx="2000000" cy="460000"/>
          </a:xfrm>
          <a:prstGeom prst="roundRect">
            <a:avLst/>
          </a:prstGeom>
          <a:solidFill>
            <a:srgbClr val="EEF4FC"/>
          </a:solidFill>
          <a:ln w="15875">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F3A60"/>
                </a:solidFill>
                <a:latin typeface="Montserrat"/>
              </a:defRPr>
            </a:pPr>
            <a:r>
              <a:t>4. EVAL</a:t>
            </a:r>
          </a:p>
        </p:txBody>
      </p:sp>
      <p:sp>
        <p:nvSpPr>
          <p:cNvPr id="16" name="Right Arrow 15"/>
          <p:cNvSpPr/>
          <p:nvPr/>
        </p:nvSpPr>
        <p:spPr>
          <a:xfrm>
            <a:off x="9950000" y="3650000"/>
            <a:ext cx="240000" cy="200000"/>
          </a:xfrm>
          <a:prstGeom prst="rightArrow">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230000" y="3520000"/>
            <a:ext cx="2000000" cy="460000"/>
          </a:xfrm>
          <a:prstGeom prst="roundRect">
            <a:avLst/>
          </a:prstGeom>
          <a:solidFill>
            <a:srgbClr val="EEF4FC"/>
          </a:solidFill>
          <a:ln w="15875">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F3A60"/>
                </a:solidFill>
                <a:latin typeface="Montserrat"/>
              </a:defRPr>
            </a:pPr>
            <a:r>
              <a:t>5. BLUE_TURN</a:t>
            </a:r>
          </a:p>
        </p:txBody>
      </p:sp>
      <p:sp>
        <p:nvSpPr>
          <p:cNvPr id="18" name="Right Arrow 17"/>
          <p:cNvSpPr/>
          <p:nvPr/>
        </p:nvSpPr>
        <p:spPr>
          <a:xfrm>
            <a:off x="12270000" y="3650000"/>
            <a:ext cx="240000" cy="200000"/>
          </a:xfrm>
          <a:prstGeom prst="rightArrow">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2550000" y="3520000"/>
            <a:ext cx="2000000" cy="460000"/>
          </a:xfrm>
          <a:prstGeom prst="roundRect">
            <a:avLst/>
          </a:prstGeom>
          <a:solidFill>
            <a:srgbClr val="EEF4FC"/>
          </a:solidFill>
          <a:ln w="15875">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F3A60"/>
                </a:solidFill>
                <a:latin typeface="Montserrat"/>
              </a:defRPr>
            </a:pPr>
            <a:r>
              <a:t>6. CONCLUDE</a:t>
            </a:r>
          </a:p>
        </p:txBody>
      </p:sp>
      <p:sp>
        <p:nvSpPr>
          <p:cNvPr id="20" name="Right Arrow 19"/>
          <p:cNvSpPr/>
          <p:nvPr/>
        </p:nvSpPr>
        <p:spPr>
          <a:xfrm>
            <a:off x="14590000" y="3650000"/>
            <a:ext cx="240000" cy="200000"/>
          </a:xfrm>
          <a:prstGeom prst="rightArrow">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4870000" y="3520000"/>
            <a:ext cx="2000000" cy="460000"/>
          </a:xfrm>
          <a:prstGeom prst="roundRect">
            <a:avLst/>
          </a:prstGeom>
          <a:solidFill>
            <a:srgbClr val="EEF4FC"/>
          </a:solidFill>
          <a:ln w="15875">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F3A60"/>
                </a:solidFill>
                <a:latin typeface="Montserrat"/>
              </a:defRPr>
            </a:pPr>
            <a:r>
              <a:t>7. DISCLOSURE</a:t>
            </a:r>
          </a:p>
        </p:txBody>
      </p:sp>
      <p:sp>
        <p:nvSpPr>
          <p:cNvPr id="22" name="TextBox 21"/>
          <p:cNvSpPr txBox="1"/>
          <p:nvPr/>
        </p:nvSpPr>
        <p:spPr>
          <a:xfrm>
            <a:off x="950000" y="4010000"/>
            <a:ext cx="16000000" cy="300000"/>
          </a:xfrm>
          <a:prstGeom prst="rect">
            <a:avLst/>
          </a:prstGeom>
          <a:noFill/>
        </p:spPr>
        <p:txBody>
          <a:bodyPr wrap="none">
            <a:spAutoFit/>
          </a:bodyPr>
          <a:lstStyle/>
          <a:p>
            <a:pPr>
              <a:defRPr sz="1100" b="1">
                <a:solidFill>
                  <a:srgbClr val="1F3A60"/>
                </a:solidFill>
                <a:latin typeface="IBM Plex Sans"/>
              </a:defRPr>
            </a:pPr>
            <a:r>
              <a:t>🔒 Non-Reversible Forward Progression Enforced by Broker PDP • No Reverse Transitions Permitted</a:t>
            </a:r>
          </a:p>
        </p:txBody>
      </p:sp>
      <p:sp>
        <p:nvSpPr>
          <p:cNvPr id="23" name="Rounded Rectangle 22"/>
          <p:cNvSpPr/>
          <p:nvPr/>
        </p:nvSpPr>
        <p:spPr>
          <a:xfrm>
            <a:off x="950000" y="4550000"/>
            <a:ext cx="2100000" cy="380000"/>
          </a:xfrm>
          <a:prstGeom prst="roundRect">
            <a:avLst/>
          </a:prstGeom>
          <a:solidFill>
            <a:srgbClr val="F6F2F9"/>
          </a:solidFill>
          <a:ln w="15875">
            <a:solidFill>
              <a:srgbClr val="5A45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5A4574"/>
                </a:solidFill>
                <a:latin typeface="Montserrat"/>
              </a:defRPr>
            </a:pPr>
            <a:r>
              <a:t>CREATE</a:t>
            </a:r>
          </a:p>
        </p:txBody>
      </p:sp>
      <p:sp>
        <p:nvSpPr>
          <p:cNvPr id="24" name="Right Arrow 23"/>
          <p:cNvSpPr/>
          <p:nvPr/>
        </p:nvSpPr>
        <p:spPr>
          <a:xfrm>
            <a:off x="3100000" y="4640000"/>
            <a:ext cx="300000" cy="180000"/>
          </a:xfrm>
          <a:prstGeom prst="rightArrow">
            <a:avLst/>
          </a:prstGeom>
          <a:solidFill>
            <a:srgbClr val="5A4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450000" y="4550000"/>
            <a:ext cx="2100000" cy="380000"/>
          </a:xfrm>
          <a:prstGeom prst="roundRect">
            <a:avLst/>
          </a:prstGeom>
          <a:solidFill>
            <a:srgbClr val="F6F2F9"/>
          </a:solidFill>
          <a:ln w="15875">
            <a:solidFill>
              <a:srgbClr val="5A45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5A4574"/>
                </a:solidFill>
                <a:latin typeface="Montserrat"/>
              </a:defRPr>
            </a:pPr>
            <a:r>
              <a:t>INITIALIZE</a:t>
            </a:r>
          </a:p>
        </p:txBody>
      </p:sp>
      <p:sp>
        <p:nvSpPr>
          <p:cNvPr id="26" name="Right Arrow 25"/>
          <p:cNvSpPr/>
          <p:nvPr/>
        </p:nvSpPr>
        <p:spPr>
          <a:xfrm>
            <a:off x="5600000" y="4640000"/>
            <a:ext cx="300000" cy="180000"/>
          </a:xfrm>
          <a:prstGeom prst="rightArrow">
            <a:avLst/>
          </a:prstGeom>
          <a:solidFill>
            <a:srgbClr val="5A4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950000" y="4550000"/>
            <a:ext cx="2100000" cy="380000"/>
          </a:xfrm>
          <a:prstGeom prst="roundRect">
            <a:avLst/>
          </a:prstGeom>
          <a:solidFill>
            <a:srgbClr val="F6F2F9"/>
          </a:solidFill>
          <a:ln w="15875">
            <a:solidFill>
              <a:srgbClr val="5A45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5A4574"/>
                </a:solidFill>
                <a:latin typeface="Montserrat"/>
              </a:defRPr>
            </a:pPr>
            <a:r>
              <a:t>TEST</a:t>
            </a:r>
          </a:p>
        </p:txBody>
      </p:sp>
      <p:sp>
        <p:nvSpPr>
          <p:cNvPr id="28" name="Right Arrow 27"/>
          <p:cNvSpPr/>
          <p:nvPr/>
        </p:nvSpPr>
        <p:spPr>
          <a:xfrm>
            <a:off x="8100000" y="4640000"/>
            <a:ext cx="300000" cy="180000"/>
          </a:xfrm>
          <a:prstGeom prst="rightArrow">
            <a:avLst/>
          </a:prstGeom>
          <a:solidFill>
            <a:srgbClr val="5A4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450000" y="4550000"/>
            <a:ext cx="2100000" cy="380000"/>
          </a:xfrm>
          <a:prstGeom prst="roundRect">
            <a:avLst/>
          </a:prstGeom>
          <a:solidFill>
            <a:srgbClr val="F6F2F9"/>
          </a:solidFill>
          <a:ln w="15875">
            <a:solidFill>
              <a:srgbClr val="5A45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5A4574"/>
                </a:solidFill>
                <a:latin typeface="Montserrat"/>
              </a:defRPr>
            </a:pPr>
            <a:r>
              <a:t>VERIFY</a:t>
            </a:r>
          </a:p>
        </p:txBody>
      </p:sp>
      <p:sp>
        <p:nvSpPr>
          <p:cNvPr id="30" name="Right Arrow 29"/>
          <p:cNvSpPr/>
          <p:nvPr/>
        </p:nvSpPr>
        <p:spPr>
          <a:xfrm>
            <a:off x="10600000" y="4640000"/>
            <a:ext cx="300000" cy="180000"/>
          </a:xfrm>
          <a:prstGeom prst="rightArrow">
            <a:avLst/>
          </a:prstGeom>
          <a:solidFill>
            <a:srgbClr val="5A4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950000" y="4550000"/>
            <a:ext cx="2100000" cy="380000"/>
          </a:xfrm>
          <a:prstGeom prst="roundRect">
            <a:avLst/>
          </a:prstGeom>
          <a:solidFill>
            <a:srgbClr val="F6F2F9"/>
          </a:solidFill>
          <a:ln w="15875">
            <a:solidFill>
              <a:srgbClr val="5A45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5A4574"/>
                </a:solidFill>
                <a:latin typeface="Montserrat"/>
              </a:defRPr>
            </a:pPr>
            <a:r>
              <a:t>DESTROY</a:t>
            </a:r>
          </a:p>
        </p:txBody>
      </p:sp>
      <p:sp>
        <p:nvSpPr>
          <p:cNvPr id="32" name="TextBox 31"/>
          <p:cNvSpPr txBox="1"/>
          <p:nvPr/>
        </p:nvSpPr>
        <p:spPr>
          <a:xfrm>
            <a:off x="950000" y="4950000"/>
            <a:ext cx="16000000" cy="280000"/>
          </a:xfrm>
          <a:prstGeom prst="rect">
            <a:avLst/>
          </a:prstGeom>
          <a:noFill/>
        </p:spPr>
        <p:txBody>
          <a:bodyPr wrap="none">
            <a:spAutoFit/>
          </a:bodyPr>
          <a:lstStyle/>
          <a:p>
            <a:pPr>
              <a:defRPr sz="1100" b="1">
                <a:solidFill>
                  <a:srgbClr val="5A4574"/>
                </a:solidFill>
                <a:latin typeface="IBM Plex Sans"/>
              </a:defRPr>
            </a:pPr>
            <a:r>
              <a:t>🔄 Dedicated Model Worker Lifecycle • Pinned Golden Weight SHA-256 Check • Cold Cache Guarantee</a:t>
            </a:r>
          </a:p>
        </p:txBody>
      </p:sp>
      <p:sp>
        <p:nvSpPr>
          <p:cNvPr id="33" name="Rounded Rectangle 32"/>
          <p:cNvSpPr/>
          <p:nvPr/>
        </p:nvSpPr>
        <p:spPr>
          <a:xfrm>
            <a:off x="731520" y="5680000"/>
            <a:ext cx="5180000" cy="3650000"/>
          </a:xfrm>
          <a:prstGeom prst="roundRect">
            <a:avLst/>
          </a:prstGeom>
          <a:solidFill>
            <a:srgbClr val="F9FBFD"/>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50000" y="5830000"/>
            <a:ext cx="2600000" cy="280000"/>
          </a:xfrm>
          <a:prstGeom prst="roundRect">
            <a:avLst/>
          </a:prstGeom>
          <a:solidFill>
            <a:srgbClr val="1F3A6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Montserrat"/>
              </a:defRPr>
            </a:pPr>
            <a:r>
              <a:t>PILLAR 1: ISOLATION</a:t>
            </a:r>
          </a:p>
        </p:txBody>
      </p:sp>
      <p:sp>
        <p:nvSpPr>
          <p:cNvPr id="35" name="TextBox 34"/>
          <p:cNvSpPr txBox="1"/>
          <p:nvPr/>
        </p:nvSpPr>
        <p:spPr>
          <a:xfrm>
            <a:off x="950000" y="6180000"/>
            <a:ext cx="4740000" cy="2400000"/>
          </a:xfrm>
          <a:prstGeom prst="rect">
            <a:avLst/>
          </a:prstGeom>
          <a:noFill/>
        </p:spPr>
        <p:txBody>
          <a:bodyPr wrap="square">
            <a:spAutoFit/>
          </a:bodyPr>
          <a:lstStyle/>
          <a:p>
            <a:pPr>
              <a:spcAft>
                <a:spcPts val="1000"/>
              </a:spcAft>
              <a:defRPr sz="1450" b="1">
                <a:solidFill>
                  <a:srgbClr val="191C21"/>
                </a:solidFill>
                <a:latin typeface="Montserrat"/>
              </a:defRPr>
            </a:pPr>
            <a:r>
              <a:t>Runtime Micro-Segmentation</a:t>
            </a:r>
          </a:p>
          <a:p>
            <a:pPr>
              <a:spcAft>
                <a:spcPts val="800"/>
              </a:spcAft>
            </a:pPr>
            <a:r>
              <a:rPr sz="1400" b="1">
                <a:solidFill>
                  <a:srgbClr val="191C21"/>
                </a:solidFill>
                <a:latin typeface="IBM Plex Sans"/>
              </a:rPr>
              <a:t>• PoC Isolation: </a:t>
            </a:r>
            <a:r>
              <a:rPr sz="1400">
                <a:solidFill>
                  <a:srgbClr val="2D3748"/>
                </a:solidFill>
                <a:latin typeface="IBM Plex Sans"/>
              </a:rPr>
              <a:t>Node.js worker_threads with strict 64MB/128MB V8 heap caps.</a:t>
            </a:r>
          </a:p>
          <a:p>
            <a:pPr>
              <a:spcAft>
                <a:spcPts val="800"/>
              </a:spcAft>
            </a:pPr>
            <a:r>
              <a:rPr sz="1400" b="1">
                <a:solidFill>
                  <a:srgbClr val="191C21"/>
                </a:solidFill>
                <a:latin typeface="IBM Plex Sans"/>
              </a:rPr>
              <a:t>• Production Target: </a:t>
            </a:r>
            <a:r>
              <a:rPr sz="1400">
                <a:solidFill>
                  <a:srgbClr val="2D3748"/>
                </a:solidFill>
                <a:latin typeface="IBM Plex Sans"/>
              </a:rPr>
              <a:t>Dedicated Kata microVMs per tenant sandbox.</a:t>
            </a:r>
          </a:p>
          <a:p>
            <a:pPr>
              <a:spcAft>
                <a:spcPts val="800"/>
              </a:spcAft>
            </a:pPr>
            <a:r>
              <a:rPr sz="1400" b="1">
                <a:solidFill>
                  <a:srgbClr val="191C21"/>
                </a:solidFill>
                <a:latin typeface="IBM Plex Sans"/>
              </a:rPr>
              <a:t>• Network Enclave: </a:t>
            </a:r>
            <a:r>
              <a:rPr sz="1400">
                <a:solidFill>
                  <a:srgbClr val="2D3748"/>
                </a:solidFill>
                <a:latin typeface="IBM Plex Sans"/>
              </a:rPr>
              <a:t>Cilium eBPF default-deny blocks P2P and cloud IMDS.</a:t>
            </a:r>
          </a:p>
        </p:txBody>
      </p:sp>
      <p:sp>
        <p:nvSpPr>
          <p:cNvPr id="36" name="Rounded Rectangle 35"/>
          <p:cNvSpPr/>
          <p:nvPr/>
        </p:nvSpPr>
        <p:spPr>
          <a:xfrm>
            <a:off x="950000" y="8530000"/>
            <a:ext cx="4740000" cy="680000"/>
          </a:xfrm>
          <a:prstGeom prst="roundRect">
            <a:avLst/>
          </a:prstGeom>
          <a:solidFill>
            <a:srgbClr val="FFFFFF"/>
          </a:solidFill>
          <a:ln w="15875">
            <a:solidFill>
              <a:srgbClr val="1F3A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0000" y="8580000"/>
            <a:ext cx="4640000" cy="580000"/>
          </a:xfrm>
          <a:prstGeom prst="rect">
            <a:avLst/>
          </a:prstGeom>
          <a:noFill/>
        </p:spPr>
        <p:txBody>
          <a:bodyPr wrap="square" lIns="0" rIns="0" tIns="0" bIns="0">
            <a:spAutoFit/>
          </a:bodyPr>
          <a:lstStyle/>
          <a:p>
            <a:pPr>
              <a:defRPr sz="1100" b="1">
                <a:solidFill>
                  <a:srgbClr val="1F3A60"/>
                </a:solidFill>
                <a:latin typeface="IBM Plex Sans"/>
              </a:defRPr>
            </a:pPr>
            <a:r>
              <a:t>🛡️ PoC: V8 heap caps • Prod: Hardware Kata microVMs</a:t>
            </a:r>
          </a:p>
        </p:txBody>
      </p:sp>
      <p:sp>
        <p:nvSpPr>
          <p:cNvPr id="38" name="Rounded Rectangle 37"/>
          <p:cNvSpPr/>
          <p:nvPr/>
        </p:nvSpPr>
        <p:spPr>
          <a:xfrm>
            <a:off x="6550000" y="5680000"/>
            <a:ext cx="5180000" cy="3650000"/>
          </a:xfrm>
          <a:prstGeom prst="roundRect">
            <a:avLst/>
          </a:prstGeom>
          <a:solidFill>
            <a:srgbClr val="F9FBFD"/>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770000" y="5830000"/>
            <a:ext cx="2600000" cy="280000"/>
          </a:xfrm>
          <a:prstGeom prst="roundRect">
            <a:avLst/>
          </a:prstGeom>
          <a:solidFill>
            <a:srgbClr val="5A457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Montserrat"/>
              </a:defRPr>
            </a:pPr>
            <a:r>
              <a:t>PILLAR 2: LIFECYCLE</a:t>
            </a:r>
          </a:p>
        </p:txBody>
      </p:sp>
      <p:sp>
        <p:nvSpPr>
          <p:cNvPr id="40" name="TextBox 39"/>
          <p:cNvSpPr txBox="1"/>
          <p:nvPr/>
        </p:nvSpPr>
        <p:spPr>
          <a:xfrm>
            <a:off x="6770000" y="6180000"/>
            <a:ext cx="4740000" cy="2400000"/>
          </a:xfrm>
          <a:prstGeom prst="rect">
            <a:avLst/>
          </a:prstGeom>
          <a:noFill/>
        </p:spPr>
        <p:txBody>
          <a:bodyPr wrap="square">
            <a:spAutoFit/>
          </a:bodyPr>
          <a:lstStyle/>
          <a:p>
            <a:pPr>
              <a:spcAft>
                <a:spcPts val="1000"/>
              </a:spcAft>
              <a:defRPr sz="1450" b="1">
                <a:solidFill>
                  <a:srgbClr val="191C21"/>
                </a:solidFill>
                <a:latin typeface="Montserrat"/>
              </a:defRPr>
            </a:pPr>
            <a:r>
              <a:t>Broker &amp; Canary Verification</a:t>
            </a:r>
          </a:p>
          <a:p>
            <a:pPr>
              <a:spcAft>
                <a:spcPts val="800"/>
              </a:spcAft>
            </a:pPr>
            <a:r>
              <a:rPr sz="1400" b="1">
                <a:solidFill>
                  <a:srgbClr val="191C21"/>
                </a:solidFill>
                <a:latin typeface="IBM Plex Sans"/>
              </a:rPr>
              <a:t>• 7-Phase Stepper: </a:t>
            </a:r>
            <a:r>
              <a:rPr sz="1400">
                <a:solidFill>
                  <a:srgbClr val="2D3748"/>
                </a:solidFill>
                <a:latin typeface="IBM Plex Sans"/>
              </a:rPr>
              <a:t>Forward-only transitions prevent premature data disclosure.</a:t>
            </a:r>
          </a:p>
          <a:p>
            <a:pPr>
              <a:spcAft>
                <a:spcPts val="800"/>
              </a:spcAft>
            </a:pPr>
            <a:r>
              <a:rPr sz="1400" b="1">
                <a:solidFill>
                  <a:srgbClr val="191C21"/>
                </a:solidFill>
                <a:latin typeface="IBM Plex Sans"/>
              </a:rPr>
              <a:t>• Canary Probes: </a:t>
            </a:r>
            <a:r>
              <a:rPr sz="1400">
                <a:solidFill>
                  <a:srgbClr val="2D3748"/>
                </a:solidFill>
                <a:latin typeface="IBM Plex Sans"/>
              </a:rPr>
              <a:t>Deterministic canary checks catch model drift mid-flight.</a:t>
            </a:r>
          </a:p>
          <a:p>
            <a:pPr>
              <a:spcAft>
                <a:spcPts val="800"/>
              </a:spcAft>
            </a:pPr>
            <a:r>
              <a:rPr sz="1400" b="1">
                <a:solidFill>
                  <a:srgbClr val="191C21"/>
                </a:solidFill>
                <a:latin typeface="IBM Plex Sans"/>
              </a:rPr>
              <a:t>• Ephemeral Workers: </a:t>
            </a:r>
            <a:r>
              <a:rPr sz="1400">
                <a:solidFill>
                  <a:srgbClr val="2D3748"/>
                </a:solidFill>
                <a:latin typeface="IBM Plex Sans"/>
              </a:rPr>
              <a:t>Model instances destroyed per turn for cold cache.</a:t>
            </a:r>
          </a:p>
        </p:txBody>
      </p:sp>
      <p:sp>
        <p:nvSpPr>
          <p:cNvPr id="41" name="Rounded Rectangle 40"/>
          <p:cNvSpPr/>
          <p:nvPr/>
        </p:nvSpPr>
        <p:spPr>
          <a:xfrm>
            <a:off x="6770000" y="8530000"/>
            <a:ext cx="4740000" cy="680000"/>
          </a:xfrm>
          <a:prstGeom prst="roundRect">
            <a:avLst/>
          </a:prstGeom>
          <a:solidFill>
            <a:srgbClr val="FFFFFF"/>
          </a:solidFill>
          <a:ln w="15875">
            <a:solidFill>
              <a:srgbClr val="5A45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20000" y="8580000"/>
            <a:ext cx="4640000" cy="580000"/>
          </a:xfrm>
          <a:prstGeom prst="rect">
            <a:avLst/>
          </a:prstGeom>
          <a:noFill/>
        </p:spPr>
        <p:txBody>
          <a:bodyPr wrap="square" lIns="0" rIns="0" tIns="0" bIns="0">
            <a:spAutoFit/>
          </a:bodyPr>
          <a:lstStyle/>
          <a:p>
            <a:pPr>
              <a:defRPr sz="1100" b="1">
                <a:solidFill>
                  <a:srgbClr val="5A4574"/>
                </a:solidFill>
                <a:latin typeface="IBM Plex Sans"/>
              </a:defRPr>
            </a:pPr>
            <a:r>
              <a:t>🔄 Cold Cache: Ephemeral worker destroyed per turn</a:t>
            </a:r>
          </a:p>
        </p:txBody>
      </p:sp>
      <p:sp>
        <p:nvSpPr>
          <p:cNvPr id="43" name="Rounded Rectangle 42"/>
          <p:cNvSpPr/>
          <p:nvPr/>
        </p:nvSpPr>
        <p:spPr>
          <a:xfrm>
            <a:off x="12370000" y="5680000"/>
            <a:ext cx="5180000" cy="3650000"/>
          </a:xfrm>
          <a:prstGeom prst="roundRect">
            <a:avLst/>
          </a:prstGeom>
          <a:solidFill>
            <a:srgbClr val="F9FBFD"/>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2590000" y="5830000"/>
            <a:ext cx="3200000" cy="280000"/>
          </a:xfrm>
          <a:prstGeom prst="roundRect">
            <a:avLst/>
          </a:prstGeom>
          <a:solidFill>
            <a:srgbClr val="1B663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Montserrat"/>
              </a:defRPr>
            </a:pPr>
            <a:r>
              <a:t>PILLAR 3: WORM INTEGRITY</a:t>
            </a:r>
          </a:p>
        </p:txBody>
      </p:sp>
      <p:sp>
        <p:nvSpPr>
          <p:cNvPr id="45" name="Rounded Rectangle 44"/>
          <p:cNvSpPr/>
          <p:nvPr/>
        </p:nvSpPr>
        <p:spPr>
          <a:xfrm>
            <a:off x="13900000" y="6160000"/>
            <a:ext cx="2200000" cy="320000"/>
          </a:xfrm>
          <a:prstGeom prst="roundRect">
            <a:avLst/>
          </a:prstGeom>
          <a:solidFill>
            <a:srgbClr val="EEF7F2"/>
          </a:solidFill>
          <a:ln w="15875">
            <a:solidFill>
              <a:srgbClr val="1B6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B663E"/>
                </a:solidFill>
                <a:latin typeface="Montserrat"/>
              </a:defRPr>
            </a:pPr>
            <a:r>
              <a:t>Merkle Root Hash</a:t>
            </a:r>
          </a:p>
        </p:txBody>
      </p:sp>
      <p:sp>
        <p:nvSpPr>
          <p:cNvPr id="46" name="Rounded Rectangle 45"/>
          <p:cNvSpPr/>
          <p:nvPr/>
        </p:nvSpPr>
        <p:spPr>
          <a:xfrm>
            <a:off x="12650000" y="6640000"/>
            <a:ext cx="1250000" cy="320000"/>
          </a:xfrm>
          <a:prstGeom prst="roundRect">
            <a:avLst/>
          </a:prstGeom>
          <a:solidFill>
            <a:srgbClr val="FFFFFF"/>
          </a:solidFill>
          <a:ln w="15875">
            <a:solidFill>
              <a:srgbClr val="1B6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91C21"/>
                </a:solidFill>
                <a:latin typeface="Montserrat"/>
              </a:defRPr>
            </a:pPr>
            <a:r>
              <a:t>H(i-1)</a:t>
            </a:r>
          </a:p>
        </p:txBody>
      </p:sp>
      <p:sp>
        <p:nvSpPr>
          <p:cNvPr id="47" name="Right Arrow 46"/>
          <p:cNvSpPr/>
          <p:nvPr/>
        </p:nvSpPr>
        <p:spPr>
          <a:xfrm>
            <a:off x="13920000" y="6720000"/>
            <a:ext cx="240000" cy="160000"/>
          </a:xfrm>
          <a:prstGeom prst="rightArrow">
            <a:avLst/>
          </a:prstGeom>
          <a:solidFill>
            <a:srgbClr val="1B6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4180000" y="6640000"/>
            <a:ext cx="1250000" cy="320000"/>
          </a:xfrm>
          <a:prstGeom prst="roundRect">
            <a:avLst/>
          </a:prstGeom>
          <a:solidFill>
            <a:srgbClr val="FFFFFF"/>
          </a:solidFill>
          <a:ln w="15875">
            <a:solidFill>
              <a:srgbClr val="1B6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91C21"/>
                </a:solidFill>
                <a:latin typeface="Montserrat"/>
              </a:defRPr>
            </a:pPr>
            <a:r>
              <a:t>H(i)</a:t>
            </a:r>
          </a:p>
        </p:txBody>
      </p:sp>
      <p:sp>
        <p:nvSpPr>
          <p:cNvPr id="49" name="Right Arrow 48"/>
          <p:cNvSpPr/>
          <p:nvPr/>
        </p:nvSpPr>
        <p:spPr>
          <a:xfrm>
            <a:off x="15450000" y="6720000"/>
            <a:ext cx="240000" cy="160000"/>
          </a:xfrm>
          <a:prstGeom prst="rightArrow">
            <a:avLst/>
          </a:prstGeom>
          <a:solidFill>
            <a:srgbClr val="1B6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5710000" y="6640000"/>
            <a:ext cx="1250000" cy="320000"/>
          </a:xfrm>
          <a:prstGeom prst="roundRect">
            <a:avLst/>
          </a:prstGeom>
          <a:solidFill>
            <a:srgbClr val="FFFFFF"/>
          </a:solidFill>
          <a:ln w="15875">
            <a:solidFill>
              <a:srgbClr val="1B6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91C21"/>
                </a:solidFill>
                <a:latin typeface="Montserrat"/>
              </a:defRPr>
            </a:pPr>
            <a:r>
              <a:t>H(i+1)</a:t>
            </a:r>
          </a:p>
        </p:txBody>
      </p:sp>
      <p:sp>
        <p:nvSpPr>
          <p:cNvPr id="51" name="TextBox 50"/>
          <p:cNvSpPr txBox="1"/>
          <p:nvPr/>
        </p:nvSpPr>
        <p:spPr>
          <a:xfrm>
            <a:off x="12590000" y="7000000"/>
            <a:ext cx="4740000" cy="280000"/>
          </a:xfrm>
          <a:prstGeom prst="rect">
            <a:avLst/>
          </a:prstGeom>
          <a:noFill/>
        </p:spPr>
        <p:txBody>
          <a:bodyPr wrap="none">
            <a:spAutoFit/>
          </a:bodyPr>
          <a:lstStyle/>
          <a:p>
            <a:pPr algn="ctr">
              <a:defRPr sz="950" b="1">
                <a:solidFill>
                  <a:srgbClr val="565D6C"/>
                </a:solidFill>
                <a:latin typeface="IBM Plex Sans"/>
              </a:defRPr>
            </a:pPr>
            <a:r>
              <a:t>Hi = SHA256(Hi-1 || Time || Tenant || Event || Digest)</a:t>
            </a:r>
          </a:p>
        </p:txBody>
      </p:sp>
      <p:sp>
        <p:nvSpPr>
          <p:cNvPr id="52" name="TextBox 51"/>
          <p:cNvSpPr txBox="1"/>
          <p:nvPr/>
        </p:nvSpPr>
        <p:spPr>
          <a:xfrm>
            <a:off x="12590000" y="7330000"/>
            <a:ext cx="4740000" cy="1250000"/>
          </a:xfrm>
          <a:prstGeom prst="rect">
            <a:avLst/>
          </a:prstGeom>
          <a:noFill/>
        </p:spPr>
        <p:txBody>
          <a:bodyPr wrap="square">
            <a:spAutoFit/>
          </a:bodyPr>
          <a:lstStyle/>
          <a:p>
            <a:pPr>
              <a:spcAft>
                <a:spcPts val="600"/>
              </a:spcAft>
            </a:pPr>
            <a:r>
              <a:rPr sz="1350" b="1">
                <a:solidFill>
                  <a:srgbClr val="191C21"/>
                </a:solidFill>
                <a:latin typeface="IBM Plex Sans"/>
              </a:rPr>
              <a:t>• Tamper-Evident Chain: </a:t>
            </a:r>
            <a:r>
              <a:rPr sz="1350">
                <a:solidFill>
                  <a:srgbClr val="2D3748"/>
                </a:solidFill>
                <a:latin typeface="IBM Plex Sans"/>
              </a:rPr>
              <a:t>Every event cryptographically anchors to prior history.</a:t>
            </a:r>
          </a:p>
          <a:p>
            <a:pPr>
              <a:spcAft>
                <a:spcPts val="600"/>
              </a:spcAft>
            </a:pPr>
            <a:r>
              <a:rPr sz="1350" b="1">
                <a:solidFill>
                  <a:srgbClr val="191C21"/>
                </a:solidFill>
                <a:latin typeface="IBM Plex Sans"/>
              </a:rPr>
              <a:t>• Write-Only Interface: </a:t>
            </a:r>
            <a:r>
              <a:rPr sz="1350">
                <a:solidFill>
                  <a:srgbClr val="2D3748"/>
                </a:solidFill>
                <a:latin typeface="IBM Plex Sans"/>
              </a:rPr>
              <a:t>Tenants append logs but cannot query audit history.</a:t>
            </a:r>
          </a:p>
        </p:txBody>
      </p:sp>
      <p:sp>
        <p:nvSpPr>
          <p:cNvPr id="53" name="Rounded Rectangle 52"/>
          <p:cNvSpPr/>
          <p:nvPr/>
        </p:nvSpPr>
        <p:spPr>
          <a:xfrm>
            <a:off x="12590000" y="8530000"/>
            <a:ext cx="4740000" cy="680000"/>
          </a:xfrm>
          <a:prstGeom prst="roundRect">
            <a:avLst/>
          </a:prstGeom>
          <a:solidFill>
            <a:srgbClr val="FFFFFF"/>
          </a:solidFill>
          <a:ln w="15875">
            <a:solidFill>
              <a:srgbClr val="1B6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2640000" y="8580000"/>
            <a:ext cx="4640000" cy="580000"/>
          </a:xfrm>
          <a:prstGeom prst="rect">
            <a:avLst/>
          </a:prstGeom>
          <a:noFill/>
        </p:spPr>
        <p:txBody>
          <a:bodyPr wrap="square" lIns="0" rIns="0" tIns="0" bIns="0">
            <a:spAutoFit/>
          </a:bodyPr>
          <a:lstStyle/>
          <a:p>
            <a:pPr>
              <a:defRPr sz="1100" b="1">
                <a:solidFill>
                  <a:srgbClr val="1B663E"/>
                </a:solidFill>
                <a:latin typeface="IBM Plex Sans"/>
              </a:defRPr>
            </a:pPr>
            <a:r>
              <a:t>📜 Provenance: Tamper-evident Merkle root anchoring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8288000" cy="1205517"/>
          </a:xfrm>
          <a:prstGeom prst="rect">
            <a:avLst/>
          </a:prstGeom>
        </p:spPr>
      </p:pic>
      <p:sp>
        <p:nvSpPr>
          <p:cNvPr id="3" name="TextBox 2"/>
          <p:cNvSpPr txBox="1"/>
          <p:nvPr/>
        </p:nvSpPr>
        <p:spPr>
          <a:xfrm>
            <a:off x="731520" y="1220000"/>
            <a:ext cx="16824960" cy="450000"/>
          </a:xfrm>
          <a:prstGeom prst="rect">
            <a:avLst/>
          </a:prstGeom>
          <a:noFill/>
        </p:spPr>
        <p:txBody>
          <a:bodyPr wrap="square" lIns="0" tIns="0" rIns="0" bIns="0">
            <a:spAutoFit/>
          </a:bodyPr>
          <a:lstStyle/>
          <a:p>
            <a:pPr>
              <a:defRPr sz="2400" b="1">
                <a:solidFill>
                  <a:srgbClr val="191C21"/>
                </a:solidFill>
                <a:latin typeface="Montserrat"/>
              </a:defRPr>
            </a:pPr>
            <a:r>
              <a:t>ARCHITECTURE</a:t>
            </a:r>
          </a:p>
        </p:txBody>
      </p:sp>
      <p:sp>
        <p:nvSpPr>
          <p:cNvPr id="4" name="TextBox 3"/>
          <p:cNvSpPr txBox="1"/>
          <p:nvPr/>
        </p:nvSpPr>
        <p:spPr>
          <a:xfrm>
            <a:off x="731520" y="1700000"/>
            <a:ext cx="16824960" cy="380000"/>
          </a:xfrm>
          <a:prstGeom prst="rect">
            <a:avLst/>
          </a:prstGeom>
          <a:noFill/>
        </p:spPr>
        <p:txBody>
          <a:bodyPr wrap="square" lIns="0" tIns="0" rIns="0" bIns="0">
            <a:spAutoFit/>
          </a:bodyPr>
          <a:lstStyle/>
          <a:p>
            <a:pPr>
              <a:defRPr sz="1250" b="1">
                <a:solidFill>
                  <a:srgbClr val="565D6C"/>
                </a:solidFill>
                <a:latin typeface="Montserrat"/>
              </a:defRPr>
            </a:pPr>
            <a:r>
              <a:t>Defense-in-Depth System Topology, Data Flow &amp; Technology Stack</a:t>
            </a:r>
          </a:p>
        </p:txBody>
      </p:sp>
      <p:sp>
        <p:nvSpPr>
          <p:cNvPr id="5" name="Rounded Rectangle 4"/>
          <p:cNvSpPr/>
          <p:nvPr/>
        </p:nvSpPr>
        <p:spPr>
          <a:xfrm>
            <a:off x="731520" y="2200000"/>
            <a:ext cx="8412480" cy="7100000"/>
          </a:xfrm>
          <a:prstGeom prst="roundRect">
            <a:avLst/>
          </a:prstGeom>
          <a:solidFill>
            <a:srgbClr val="F9FBFD"/>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000" y="2360000"/>
            <a:ext cx="3800000" cy="280000"/>
          </a:xfrm>
          <a:prstGeom prst="roundRect">
            <a:avLst/>
          </a:prstGeom>
          <a:solidFill>
            <a:srgbClr val="1F3A6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50" b="1">
                <a:solidFill>
                  <a:srgbClr val="FFFFFF"/>
                </a:solidFill>
                <a:latin typeface="Montserrat"/>
              </a:defRPr>
            </a:pPr>
            <a:r>
              <a:t>SYSTEM TOPOLOGY &amp; BOUNDARIES</a:t>
            </a:r>
          </a:p>
        </p:txBody>
      </p:sp>
      <p:pic>
        <p:nvPicPr>
          <p:cNvPr id="7" name="Picture 6" descr="image.png"/>
          <p:cNvPicPr>
            <a:picLocks noChangeAspect="1"/>
          </p:cNvPicPr>
          <p:nvPr/>
        </p:nvPicPr>
        <p:blipFill>
          <a:blip r:embed="rId5"/>
          <a:stretch>
            <a:fillRect/>
          </a:stretch>
        </p:blipFill>
        <p:spPr>
          <a:xfrm>
            <a:off x="920000" y="2680000"/>
            <a:ext cx="8000000" cy="4100000"/>
          </a:xfrm>
          <a:prstGeom prst="rect">
            <a:avLst/>
          </a:prstGeom>
        </p:spPr>
      </p:pic>
      <p:sp>
        <p:nvSpPr>
          <p:cNvPr id="8" name="Oval 7"/>
          <p:cNvSpPr/>
          <p:nvPr/>
        </p:nvSpPr>
        <p:spPr>
          <a:xfrm>
            <a:off x="4750000" y="2750000"/>
            <a:ext cx="360000" cy="360000"/>
          </a:xfrm>
          <a:prstGeom prst="ellipse">
            <a:avLst/>
          </a:prstGeom>
          <a:solidFill>
            <a:srgbClr val="1F3A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Montserrat"/>
              </a:defRPr>
            </a:pPr>
            <a:r>
              <a:t>1</a:t>
            </a:r>
          </a:p>
        </p:txBody>
      </p:sp>
      <p:sp>
        <p:nvSpPr>
          <p:cNvPr id="9" name="Oval 8"/>
          <p:cNvSpPr/>
          <p:nvPr/>
        </p:nvSpPr>
        <p:spPr>
          <a:xfrm>
            <a:off x="1950000" y="4400000"/>
            <a:ext cx="360000" cy="360000"/>
          </a:xfrm>
          <a:prstGeom prst="ellipse">
            <a:avLst/>
          </a:prstGeom>
          <a:solidFill>
            <a:srgbClr val="A4232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Montserrat"/>
              </a:defRPr>
            </a:pPr>
            <a:r>
              <a:t>2</a:t>
            </a:r>
          </a:p>
        </p:txBody>
      </p:sp>
      <p:sp>
        <p:nvSpPr>
          <p:cNvPr id="10" name="Oval 9"/>
          <p:cNvSpPr/>
          <p:nvPr/>
        </p:nvSpPr>
        <p:spPr>
          <a:xfrm>
            <a:off x="4750000" y="4400000"/>
            <a:ext cx="360000" cy="360000"/>
          </a:xfrm>
          <a:prstGeom prst="ellipse">
            <a:avLst/>
          </a:prstGeom>
          <a:solidFill>
            <a:srgbClr val="5A4574"/>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Montserrat"/>
              </a:defRPr>
            </a:pPr>
            <a:r>
              <a:t>3</a:t>
            </a:r>
          </a:p>
        </p:txBody>
      </p:sp>
      <p:sp>
        <p:nvSpPr>
          <p:cNvPr id="11" name="Oval 10"/>
          <p:cNvSpPr/>
          <p:nvPr/>
        </p:nvSpPr>
        <p:spPr>
          <a:xfrm>
            <a:off x="7500000" y="4400000"/>
            <a:ext cx="360000" cy="36000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Montserrat"/>
              </a:defRPr>
            </a:pPr>
            <a:r>
              <a:t>4</a:t>
            </a:r>
          </a:p>
        </p:txBody>
      </p:sp>
      <p:sp>
        <p:nvSpPr>
          <p:cNvPr id="12" name="Oval 11"/>
          <p:cNvSpPr/>
          <p:nvPr/>
        </p:nvSpPr>
        <p:spPr>
          <a:xfrm>
            <a:off x="4750000" y="6000000"/>
            <a:ext cx="360000" cy="360000"/>
          </a:xfrm>
          <a:prstGeom prst="ellipse">
            <a:avLst/>
          </a:prstGeom>
          <a:solidFill>
            <a:srgbClr val="1B663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Montserrat"/>
              </a:defRPr>
            </a:pPr>
            <a:r>
              <a:t>5</a:t>
            </a:r>
          </a:p>
        </p:txBody>
      </p:sp>
      <p:sp>
        <p:nvSpPr>
          <p:cNvPr id="13" name="Rounded Rectangle 12"/>
          <p:cNvSpPr/>
          <p:nvPr/>
        </p:nvSpPr>
        <p:spPr>
          <a:xfrm>
            <a:off x="920000" y="6880000"/>
            <a:ext cx="8000000" cy="2250000"/>
          </a:xfrm>
          <a:prstGeom prst="roundRect">
            <a:avLst/>
          </a:prstGeom>
          <a:solidFill>
            <a:srgbClr val="FFFFFF"/>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0000" y="6930000"/>
            <a:ext cx="7800000" cy="2150000"/>
          </a:xfrm>
          <a:prstGeom prst="rect">
            <a:avLst/>
          </a:prstGeom>
          <a:noFill/>
        </p:spPr>
        <p:txBody>
          <a:bodyPr wrap="square">
            <a:spAutoFit/>
          </a:bodyPr>
          <a:lstStyle/>
          <a:p>
            <a:pPr>
              <a:spcAft>
                <a:spcPts val="400"/>
              </a:spcAft>
              <a:defRPr sz="1200" b="1">
                <a:solidFill>
                  <a:srgbClr val="191C21"/>
                </a:solidFill>
                <a:latin typeface="Montserrat"/>
              </a:defRPr>
            </a:pPr>
            <a:r>
              <a:t>Architectural Boundaries &amp; Isolation Controls:</a:t>
            </a:r>
          </a:p>
          <a:p>
            <a:pPr>
              <a:spcAft>
                <a:spcPts val="200"/>
              </a:spcAft>
            </a:pPr>
            <a:r>
              <a:rPr sz="1100" b="1">
                <a:solidFill>
                  <a:srgbClr val="191C21"/>
                </a:solidFill>
                <a:latin typeface="IBM Plex Sans"/>
              </a:rPr>
              <a:t>(1) Control Plane: </a:t>
            </a:r>
            <a:r>
              <a:rPr sz="1100">
                <a:solidFill>
                  <a:srgbClr val="2D3748"/>
                </a:solidFill>
                <a:latin typeface="IBM Plex Sans"/>
              </a:rPr>
              <a:t>Minimal privilege Broker + OPA PDP + Vault capability authority.</a:t>
            </a:r>
          </a:p>
          <a:p>
            <a:pPr>
              <a:spcAft>
                <a:spcPts val="200"/>
              </a:spcAft>
            </a:pPr>
            <a:r>
              <a:rPr sz="1100" b="1">
                <a:solidFill>
                  <a:srgbClr val="191C21"/>
                </a:solidFill>
                <a:latin typeface="IBM Plex Sans"/>
              </a:rPr>
              <a:t>(2) Red Sandbox: </a:t>
            </a:r>
            <a:r>
              <a:rPr sz="1100">
                <a:solidFill>
                  <a:srgbClr val="2D3748"/>
                </a:solidFill>
                <a:latin typeface="IBM Plex Sans"/>
              </a:rPr>
              <a:t>PoC worker_thread (64MB V8 heap) → Kata microVM (cpuset 0-3).</a:t>
            </a:r>
          </a:p>
          <a:p>
            <a:pPr>
              <a:spcAft>
                <a:spcPts val="200"/>
              </a:spcAft>
            </a:pPr>
            <a:r>
              <a:rPr sz="1100" b="1">
                <a:solidFill>
                  <a:srgbClr val="191C21"/>
                </a:solidFill>
                <a:latin typeface="IBM Plex Sans"/>
              </a:rPr>
              <a:t>(3) Dedicated Model: </a:t>
            </a:r>
            <a:r>
              <a:rPr sz="1100">
                <a:solidFill>
                  <a:srgbClr val="2D3748"/>
                </a:solidFill>
                <a:latin typeface="IBM Plex Sans"/>
              </a:rPr>
              <a:t>Ephemeral instance, zero network egress, verified cold cache.</a:t>
            </a:r>
          </a:p>
          <a:p>
            <a:pPr>
              <a:spcAft>
                <a:spcPts val="200"/>
              </a:spcAft>
            </a:pPr>
            <a:r>
              <a:rPr sz="1100" b="1">
                <a:solidFill>
                  <a:srgbClr val="191C21"/>
                </a:solidFill>
                <a:latin typeface="IBM Plex Sans"/>
              </a:rPr>
              <a:t>(4) Blue Sandbox: </a:t>
            </a:r>
            <a:r>
              <a:rPr sz="1100">
                <a:solidFill>
                  <a:srgbClr val="2D3748"/>
                </a:solidFill>
                <a:latin typeface="IBM Plex Sans"/>
              </a:rPr>
              <a:t>PoC worker_thread (64MB V8 heap) → Kata microVM (cpuset 4-7).</a:t>
            </a:r>
          </a:p>
          <a:p>
            <a:pPr>
              <a:spcAft>
                <a:spcPts val="200"/>
              </a:spcAft>
            </a:pPr>
            <a:r>
              <a:rPr sz="1100" b="1">
                <a:solidFill>
                  <a:srgbClr val="191C21"/>
                </a:solidFill>
                <a:latin typeface="IBM Plex Sans"/>
              </a:rPr>
              <a:t>(5) WORM Audit Ledger: </a:t>
            </a:r>
            <a:r>
              <a:rPr sz="1100">
                <a:solidFill>
                  <a:srgbClr val="2D3748"/>
                </a:solidFill>
                <a:latin typeface="IBM Plex Sans"/>
              </a:rPr>
              <a:t>Append-only SHA-256 hash chain with Merkle root anchoring.</a:t>
            </a:r>
          </a:p>
        </p:txBody>
      </p:sp>
      <p:sp>
        <p:nvSpPr>
          <p:cNvPr id="15" name="Rounded Rectangle 14"/>
          <p:cNvSpPr/>
          <p:nvPr/>
        </p:nvSpPr>
        <p:spPr>
          <a:xfrm>
            <a:off x="9326880" y="2200000"/>
            <a:ext cx="8046720" cy="7100000"/>
          </a:xfrm>
          <a:prstGeom prst="roundRect">
            <a:avLst/>
          </a:prstGeom>
          <a:solidFill>
            <a:srgbClr val="F9FBFD"/>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550000" y="2360000"/>
            <a:ext cx="3600000" cy="280000"/>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50" b="1">
                <a:solidFill>
                  <a:srgbClr val="FFFFFF"/>
                </a:solidFill>
                <a:latin typeface="Montserrat"/>
              </a:defRPr>
            </a:pPr>
            <a:r>
              <a:t>PRODUCTION TECHNOLOGY STACK</a:t>
            </a:r>
          </a:p>
        </p:txBody>
      </p:sp>
      <p:sp>
        <p:nvSpPr>
          <p:cNvPr id="17" name="TextBox 16"/>
          <p:cNvSpPr txBox="1"/>
          <p:nvPr/>
        </p:nvSpPr>
        <p:spPr>
          <a:xfrm>
            <a:off x="9550000" y="2720000"/>
            <a:ext cx="7596720" cy="2200000"/>
          </a:xfrm>
          <a:prstGeom prst="rect">
            <a:avLst/>
          </a:prstGeom>
          <a:noFill/>
        </p:spPr>
        <p:txBody>
          <a:bodyPr wrap="square">
            <a:spAutoFit/>
          </a:bodyPr>
          <a:lstStyle/>
          <a:p>
            <a:pPr>
              <a:spcAft>
                <a:spcPts val="700"/>
              </a:spcAft>
            </a:pPr>
            <a:r>
              <a:rPr sz="1300" b="1">
                <a:solidFill>
                  <a:srgbClr val="191C21"/>
                </a:solidFill>
                <a:latin typeface="IBM Plex Sans"/>
              </a:rPr>
              <a:t>• Runtime: </a:t>
            </a:r>
            <a:r>
              <a:rPr sz="1300">
                <a:solidFill>
                  <a:srgbClr val="2D3748"/>
                </a:solidFill>
                <a:latin typeface="IBM Plex Sans"/>
              </a:rPr>
              <a:t>Node.js worker_threads (PoC) → Linux Kata microVMs (Prod)</a:t>
            </a:r>
          </a:p>
          <a:p>
            <a:pPr>
              <a:spcAft>
                <a:spcPts val="700"/>
              </a:spcAft>
            </a:pPr>
            <a:r>
              <a:rPr sz="1300" b="1">
                <a:solidFill>
                  <a:srgbClr val="191C21"/>
                </a:solidFill>
                <a:latin typeface="IBM Plex Sans"/>
              </a:rPr>
              <a:t>• Network: </a:t>
            </a:r>
            <a:r>
              <a:rPr sz="1300">
                <a:solidFill>
                  <a:srgbClr val="2D3748"/>
                </a:solidFill>
                <a:latin typeface="IBM Plex Sans"/>
              </a:rPr>
              <a:t>Cilium eBPF socket filters; blocks P2P &amp; cloud IMDS</a:t>
            </a:r>
          </a:p>
          <a:p>
            <a:pPr>
              <a:spcAft>
                <a:spcPts val="700"/>
              </a:spcAft>
            </a:pPr>
            <a:r>
              <a:rPr sz="1300" b="1">
                <a:solidFill>
                  <a:srgbClr val="191C21"/>
                </a:solidFill>
                <a:latin typeface="IBM Plex Sans"/>
              </a:rPr>
              <a:t>• Policy Engine: </a:t>
            </a:r>
            <a:r>
              <a:rPr sz="1300">
                <a:solidFill>
                  <a:srgbClr val="2D3748"/>
                </a:solidFill>
                <a:latin typeface="IBM Plex Sans"/>
              </a:rPr>
              <a:t>Open Policy Agent (OPA PDP) default-deny filtering</a:t>
            </a:r>
          </a:p>
          <a:p>
            <a:pPr>
              <a:spcAft>
                <a:spcPts val="700"/>
              </a:spcAft>
            </a:pPr>
            <a:r>
              <a:rPr sz="1300" b="1">
                <a:solidFill>
                  <a:srgbClr val="191C21"/>
                </a:solidFill>
                <a:latin typeface="IBM Plex Sans"/>
              </a:rPr>
              <a:t>• Identity: </a:t>
            </a:r>
            <a:r>
              <a:rPr sz="1300">
                <a:solidFill>
                  <a:srgbClr val="2D3748"/>
                </a:solidFill>
                <a:latin typeface="IBM Plex Sans"/>
              </a:rPr>
              <a:t>HashiCorp Vault capability tokens with ephemeral TTLs</a:t>
            </a:r>
          </a:p>
          <a:p>
            <a:pPr>
              <a:spcAft>
                <a:spcPts val="700"/>
              </a:spcAft>
            </a:pPr>
            <a:r>
              <a:rPr sz="1300" b="1">
                <a:solidFill>
                  <a:srgbClr val="191C21"/>
                </a:solidFill>
                <a:latin typeface="IBM Plex Sans"/>
              </a:rPr>
              <a:t>• Audit Ledger: </a:t>
            </a:r>
            <a:r>
              <a:rPr sz="1300">
                <a:solidFill>
                  <a:srgbClr val="2D3748"/>
                </a:solidFill>
                <a:latin typeface="IBM Plex Sans"/>
              </a:rPr>
              <a:t>Append-only SHA-256 WORM chain with Merkle root anchoring</a:t>
            </a:r>
          </a:p>
        </p:txBody>
      </p:sp>
      <p:sp>
        <p:nvSpPr>
          <p:cNvPr id="18" name="Rounded Rectangle 17"/>
          <p:cNvSpPr/>
          <p:nvPr/>
        </p:nvSpPr>
        <p:spPr>
          <a:xfrm>
            <a:off x="9550000" y="4900000"/>
            <a:ext cx="7596720" cy="3350000"/>
          </a:xfrm>
          <a:prstGeom prst="roundRect">
            <a:avLst/>
          </a:prstGeom>
          <a:solidFill>
            <a:srgbClr val="FFFFFF"/>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50000" y="5000000"/>
            <a:ext cx="7246720" cy="350000"/>
          </a:xfrm>
          <a:prstGeom prst="rect">
            <a:avLst/>
          </a:prstGeom>
          <a:noFill/>
        </p:spPr>
        <p:txBody>
          <a:bodyPr wrap="none">
            <a:spAutoFit/>
          </a:bodyPr>
          <a:lstStyle/>
          <a:p>
            <a:pPr>
              <a:defRPr sz="1300" b="1">
                <a:solidFill>
                  <a:srgbClr val="0066CC"/>
                </a:solidFill>
                <a:latin typeface="Montserrat"/>
              </a:defRPr>
            </a:pPr>
            <a:r>
              <a:t>Deterministic 5-Step Data Flow (Diagram C)</a:t>
            </a:r>
          </a:p>
        </p:txBody>
      </p:sp>
      <p:sp>
        <p:nvSpPr>
          <p:cNvPr id="20" name="Rounded Rectangle 19"/>
          <p:cNvSpPr/>
          <p:nvPr/>
        </p:nvSpPr>
        <p:spPr>
          <a:xfrm>
            <a:off x="9750000" y="5450000"/>
            <a:ext cx="7196720" cy="450000"/>
          </a:xfrm>
          <a:prstGeom prst="roundRect">
            <a:avLst/>
          </a:prstGeom>
          <a:solidFill>
            <a:srgbClr val="EEF4FC"/>
          </a:solidFill>
          <a:ln w="15875">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lIns="120000" tIns="60000"/>
          <a:lstStyle/>
          <a:p>
            <a:pPr algn="ctr"/>
            <a:r>
              <a:rPr sz="1100" b="1">
                <a:solidFill>
                  <a:srgbClr val="1F3A60"/>
                </a:solidFill>
                <a:latin typeface="Montserrat"/>
              </a:rPr>
              <a:t>1. Encrypted Ingestion  •  </a:t>
            </a:r>
            <a:r>
              <a:rPr sz="1000" b="1">
                <a:solidFill>
                  <a:srgbClr val="0066CC"/>
                </a:solidFill>
                <a:latin typeface="IBM Plex Sans"/>
              </a:rPr>
              <a:t>mTLS + OPA check</a:t>
            </a:r>
          </a:p>
        </p:txBody>
      </p:sp>
      <p:sp>
        <p:nvSpPr>
          <p:cNvPr id="21" name="Rounded Rectangle 20"/>
          <p:cNvSpPr/>
          <p:nvPr/>
        </p:nvSpPr>
        <p:spPr>
          <a:xfrm>
            <a:off x="9750000" y="6030000"/>
            <a:ext cx="7196720" cy="450000"/>
          </a:xfrm>
          <a:prstGeom prst="roundRect">
            <a:avLst/>
          </a:prstGeom>
          <a:solidFill>
            <a:srgbClr val="EEF4FC"/>
          </a:solidFill>
          <a:ln w="15875">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lIns="120000" tIns="60000"/>
          <a:lstStyle/>
          <a:p>
            <a:pPr algn="ctr"/>
            <a:r>
              <a:rPr sz="1100" b="1">
                <a:solidFill>
                  <a:srgbClr val="1F3A60"/>
                </a:solidFill>
                <a:latin typeface="Montserrat"/>
              </a:rPr>
              <a:t>2. Dedicated Spawn  •  </a:t>
            </a:r>
            <a:r>
              <a:rPr sz="1000" b="1">
                <a:solidFill>
                  <a:srgbClr val="0066CC"/>
                </a:solidFill>
                <a:latin typeface="IBM Plex Sans"/>
              </a:rPr>
              <a:t>SHA-256 weight check</a:t>
            </a:r>
          </a:p>
        </p:txBody>
      </p:sp>
      <p:sp>
        <p:nvSpPr>
          <p:cNvPr id="22" name="Rounded Rectangle 21"/>
          <p:cNvSpPr/>
          <p:nvPr/>
        </p:nvSpPr>
        <p:spPr>
          <a:xfrm>
            <a:off x="9750000" y="6610000"/>
            <a:ext cx="7196720" cy="450000"/>
          </a:xfrm>
          <a:prstGeom prst="roundRect">
            <a:avLst/>
          </a:prstGeom>
          <a:solidFill>
            <a:srgbClr val="EEF4FC"/>
          </a:solidFill>
          <a:ln w="15875">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lIns="120000" tIns="60000"/>
          <a:lstStyle/>
          <a:p>
            <a:pPr algn="ctr"/>
            <a:r>
              <a:rPr sz="1100" b="1">
                <a:solidFill>
                  <a:srgbClr val="1F3A60"/>
                </a:solidFill>
                <a:latin typeface="Montserrat"/>
              </a:rPr>
              <a:t>3. Isolated Inference  •  </a:t>
            </a:r>
            <a:r>
              <a:rPr sz="1000" b="1">
                <a:solidFill>
                  <a:srgbClr val="0066CC"/>
                </a:solidFill>
                <a:latin typeface="IBM Plex Sans"/>
              </a:rPr>
              <a:t>Zero network egress</a:t>
            </a:r>
          </a:p>
        </p:txBody>
      </p:sp>
      <p:sp>
        <p:nvSpPr>
          <p:cNvPr id="23" name="Rounded Rectangle 22"/>
          <p:cNvSpPr/>
          <p:nvPr/>
        </p:nvSpPr>
        <p:spPr>
          <a:xfrm>
            <a:off x="9750000" y="7190000"/>
            <a:ext cx="7196720" cy="450000"/>
          </a:xfrm>
          <a:prstGeom prst="roundRect">
            <a:avLst/>
          </a:prstGeom>
          <a:solidFill>
            <a:srgbClr val="EEF4FC"/>
          </a:solidFill>
          <a:ln w="15875">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lIns="120000" tIns="60000"/>
          <a:lstStyle/>
          <a:p>
            <a:pPr algn="ctr"/>
            <a:r>
              <a:rPr sz="1100" b="1">
                <a:solidFill>
                  <a:srgbClr val="1F3A60"/>
                </a:solidFill>
                <a:latin typeface="Montserrat"/>
              </a:rPr>
              <a:t>4. Canary Verification  •  </a:t>
            </a:r>
            <a:r>
              <a:rPr sz="1000" b="1">
                <a:solidFill>
                  <a:srgbClr val="0066CC"/>
                </a:solidFill>
                <a:latin typeface="IBM Plex Sans"/>
              </a:rPr>
              <a:t>CANARY_PROBE_V1</a:t>
            </a:r>
          </a:p>
        </p:txBody>
      </p:sp>
      <p:sp>
        <p:nvSpPr>
          <p:cNvPr id="24" name="Rounded Rectangle 23"/>
          <p:cNvSpPr/>
          <p:nvPr/>
        </p:nvSpPr>
        <p:spPr>
          <a:xfrm>
            <a:off x="9750000" y="7770000"/>
            <a:ext cx="7196720" cy="450000"/>
          </a:xfrm>
          <a:prstGeom prst="roundRect">
            <a:avLst/>
          </a:prstGeom>
          <a:solidFill>
            <a:srgbClr val="EEF4FC"/>
          </a:solidFill>
          <a:ln w="15875">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lIns="120000" tIns="60000"/>
          <a:lstStyle/>
          <a:p>
            <a:pPr algn="ctr"/>
            <a:r>
              <a:rPr sz="1100" b="1">
                <a:solidFill>
                  <a:srgbClr val="1F3A60"/>
                </a:solidFill>
                <a:latin typeface="Montserrat"/>
              </a:rPr>
              <a:t>5. Scrub &amp; Commit  •  </a:t>
            </a:r>
            <a:r>
              <a:rPr sz="1000" b="1">
                <a:solidFill>
                  <a:srgbClr val="0066CC"/>
                </a:solidFill>
                <a:latin typeface="IBM Plex Sans"/>
              </a:rPr>
              <a:t>Merkle root commit</a:t>
            </a:r>
          </a:p>
        </p:txBody>
      </p:sp>
      <p:sp>
        <p:nvSpPr>
          <p:cNvPr id="25" name="Rounded Rectangle 24"/>
          <p:cNvSpPr/>
          <p:nvPr/>
        </p:nvSpPr>
        <p:spPr>
          <a:xfrm>
            <a:off x="9550000" y="8350000"/>
            <a:ext cx="7596720" cy="780000"/>
          </a:xfrm>
          <a:prstGeom prst="roundRect">
            <a:avLst/>
          </a:prstGeom>
          <a:solidFill>
            <a:srgbClr val="FFFFFF"/>
          </a:solidFill>
          <a:ln w="15875">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00000" y="8400000"/>
            <a:ext cx="7296720" cy="680000"/>
          </a:xfrm>
          <a:prstGeom prst="rect">
            <a:avLst/>
          </a:prstGeom>
          <a:noFill/>
        </p:spPr>
        <p:txBody>
          <a:bodyPr wrap="square">
            <a:spAutoFit/>
          </a:bodyPr>
          <a:lstStyle/>
          <a:p>
            <a:pPr>
              <a:spcAft>
                <a:spcPts val="100"/>
              </a:spcAft>
              <a:defRPr sz="950" b="1">
                <a:solidFill>
                  <a:srgbClr val="0066CC"/>
                </a:solidFill>
                <a:latin typeface="Montserrat"/>
              </a:defRPr>
            </a:pPr>
            <a:r>
              <a:t>⚡ PERFORMANCE &amp; MEDIATION GUARANTEE</a:t>
            </a:r>
          </a:p>
          <a:p>
            <a:pPr>
              <a:defRPr sz="900">
                <a:solidFill>
                  <a:srgbClr val="191C21"/>
                </a:solidFill>
                <a:latin typeface="IBM Plex Sans"/>
              </a:defRPr>
            </a:pPr>
            <a:r>
              <a:t>Uniform 250ms latency quantization • 100% Policy Mediation • Scoped REST APIs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8288000" cy="1205517"/>
          </a:xfrm>
          <a:prstGeom prst="rect">
            <a:avLst/>
          </a:prstGeom>
        </p:spPr>
      </p:pic>
      <p:sp>
        <p:nvSpPr>
          <p:cNvPr id="3" name="TextBox 2"/>
          <p:cNvSpPr txBox="1"/>
          <p:nvPr/>
        </p:nvSpPr>
        <p:spPr>
          <a:xfrm>
            <a:off x="731520" y="1220000"/>
            <a:ext cx="16824960" cy="450000"/>
          </a:xfrm>
          <a:prstGeom prst="rect">
            <a:avLst/>
          </a:prstGeom>
          <a:noFill/>
        </p:spPr>
        <p:txBody>
          <a:bodyPr wrap="square" lIns="0" tIns="0" rIns="0" bIns="0">
            <a:spAutoFit/>
          </a:bodyPr>
          <a:lstStyle/>
          <a:p>
            <a:pPr>
              <a:defRPr sz="2400" b="1">
                <a:solidFill>
                  <a:srgbClr val="191C21"/>
                </a:solidFill>
                <a:latin typeface="Montserrat"/>
              </a:defRPr>
            </a:pPr>
            <a:r>
              <a:t>ATTACK WALKTHROUGH: WHAT HAPPENS WHEN RED TRIES TO BREAK OUT</a:t>
            </a:r>
          </a:p>
        </p:txBody>
      </p:sp>
      <p:sp>
        <p:nvSpPr>
          <p:cNvPr id="4" name="TextBox 3"/>
          <p:cNvSpPr txBox="1"/>
          <p:nvPr/>
        </p:nvSpPr>
        <p:spPr>
          <a:xfrm>
            <a:off x="731520" y="1700000"/>
            <a:ext cx="16824960" cy="380000"/>
          </a:xfrm>
          <a:prstGeom prst="rect">
            <a:avLst/>
          </a:prstGeom>
          <a:noFill/>
        </p:spPr>
        <p:txBody>
          <a:bodyPr wrap="square" lIns="0" tIns="0" rIns="0" bIns="0">
            <a:spAutoFit/>
          </a:bodyPr>
          <a:lstStyle/>
          <a:p>
            <a:pPr>
              <a:defRPr sz="1250" b="1">
                <a:solidFill>
                  <a:srgbClr val="565D6C"/>
                </a:solidFill>
                <a:latin typeface="Montserrat"/>
              </a:defRPr>
            </a:pPr>
            <a:r>
              <a:t>Step-by-Step Enforcement Flow Against Live Adversarial Exploitation</a:t>
            </a:r>
          </a:p>
        </p:txBody>
      </p:sp>
      <p:sp>
        <p:nvSpPr>
          <p:cNvPr id="5" name="Rounded Rectangle 4"/>
          <p:cNvSpPr/>
          <p:nvPr/>
        </p:nvSpPr>
        <p:spPr>
          <a:xfrm>
            <a:off x="731520" y="2200000"/>
            <a:ext cx="16824960" cy="4550000"/>
          </a:xfrm>
          <a:prstGeom prst="roundRect">
            <a:avLst/>
          </a:prstGeom>
          <a:solidFill>
            <a:srgbClr val="FFFFFF"/>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50000" y="2320000"/>
            <a:ext cx="7800000" cy="280000"/>
          </a:xfrm>
          <a:prstGeom prst="roundRect">
            <a:avLst/>
          </a:prstGeom>
          <a:solidFill>
            <a:srgbClr val="1F3A6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Montserrat"/>
              </a:defRPr>
            </a:pPr>
            <a:r>
              <a:t>DIAGRAM B: STEP-BY-STEP ADVERSARIAL ATTACK INTERCEPTION WORKFLOW</a:t>
            </a:r>
          </a:p>
        </p:txBody>
      </p:sp>
      <p:sp>
        <p:nvSpPr>
          <p:cNvPr id="7" name="Rounded Rectangle 6"/>
          <p:cNvSpPr/>
          <p:nvPr/>
        </p:nvSpPr>
        <p:spPr>
          <a:xfrm>
            <a:off x="950000" y="2750000"/>
            <a:ext cx="2900000" cy="3300000"/>
          </a:xfrm>
          <a:prstGeom prst="roundRect">
            <a:avLst/>
          </a:prstGeom>
          <a:solidFill>
            <a:srgbClr val="FDF2F2"/>
          </a:solidFill>
          <a:ln w="19050">
            <a:solidFill>
              <a:srgbClr val="A4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0000" y="2900000"/>
            <a:ext cx="2620000" cy="280000"/>
          </a:xfrm>
          <a:prstGeom prst="roundRect">
            <a:avLst/>
          </a:prstGeom>
          <a:solidFill>
            <a:srgbClr val="A4232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Montserrat"/>
              </a:defRPr>
            </a:pPr>
            <a:r>
              <a:t>⚔️ Attack Action</a:t>
            </a:r>
          </a:p>
        </p:txBody>
      </p:sp>
      <p:sp>
        <p:nvSpPr>
          <p:cNvPr id="9" name="TextBox 8"/>
          <p:cNvSpPr txBox="1"/>
          <p:nvPr/>
        </p:nvSpPr>
        <p:spPr>
          <a:xfrm>
            <a:off x="1090000" y="3270000"/>
            <a:ext cx="2620000" cy="2600000"/>
          </a:xfrm>
          <a:prstGeom prst="rect">
            <a:avLst/>
          </a:prstGeom>
          <a:noFill/>
        </p:spPr>
        <p:txBody>
          <a:bodyPr wrap="square">
            <a:spAutoFit/>
          </a:bodyPr>
          <a:lstStyle/>
          <a:p>
            <a:pPr>
              <a:spcAft>
                <a:spcPts val="200"/>
              </a:spcAft>
              <a:defRPr sz="1100" b="1">
                <a:solidFill>
                  <a:srgbClr val="A42323"/>
                </a:solidFill>
                <a:latin typeface="Montserrat"/>
              </a:defRPr>
            </a:pPr>
            <a:r>
              <a:t>STEP 1</a:t>
            </a:r>
          </a:p>
          <a:p>
            <a:pPr>
              <a:spcAft>
                <a:spcPts val="800"/>
              </a:spcAft>
              <a:defRPr sz="1300" b="1">
                <a:solidFill>
                  <a:srgbClr val="191C21"/>
                </a:solidFill>
                <a:latin typeface="Montserrat"/>
              </a:defRPr>
            </a:pPr>
            <a:r>
              <a:t>Red Submits Exploit</a:t>
            </a:r>
          </a:p>
          <a:p>
            <a:pPr>
              <a:defRPr sz="1200">
                <a:solidFill>
                  <a:srgbClr val="2D3748"/>
                </a:solidFill>
                <a:latin typeface="IBM Plex Sans"/>
              </a:defRPr>
            </a:pPr>
            <a:r>
              <a:t>Red tenant transmits evasive jailbreak containing encoded prompt injections.</a:t>
            </a:r>
          </a:p>
        </p:txBody>
      </p:sp>
      <p:sp>
        <p:nvSpPr>
          <p:cNvPr id="10" name="Right Arrow 9"/>
          <p:cNvSpPr/>
          <p:nvPr/>
        </p:nvSpPr>
        <p:spPr>
          <a:xfrm>
            <a:off x="3910000" y="4150000"/>
            <a:ext cx="260000" cy="260000"/>
          </a:xfrm>
          <a:prstGeom prst="rightArrow">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30000" y="2750000"/>
            <a:ext cx="2900000" cy="3300000"/>
          </a:xfrm>
          <a:prstGeom prst="roundRect">
            <a:avLst/>
          </a:prstGeom>
          <a:solidFill>
            <a:srgbClr val="EEF7F2"/>
          </a:solidFill>
          <a:ln w="19050">
            <a:solidFill>
              <a:srgbClr val="1B6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70000" y="2900000"/>
            <a:ext cx="2620000" cy="280000"/>
          </a:xfrm>
          <a:prstGeom prst="roundRect">
            <a:avLst/>
          </a:prstGeom>
          <a:solidFill>
            <a:srgbClr val="1B663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Montserrat"/>
              </a:defRPr>
            </a:pPr>
            <a:r>
              <a:t>🛡️ Enforcement Point</a:t>
            </a:r>
          </a:p>
        </p:txBody>
      </p:sp>
      <p:sp>
        <p:nvSpPr>
          <p:cNvPr id="13" name="TextBox 12"/>
          <p:cNvSpPr txBox="1"/>
          <p:nvPr/>
        </p:nvSpPr>
        <p:spPr>
          <a:xfrm>
            <a:off x="4370000" y="3270000"/>
            <a:ext cx="2620000" cy="2600000"/>
          </a:xfrm>
          <a:prstGeom prst="rect">
            <a:avLst/>
          </a:prstGeom>
          <a:noFill/>
        </p:spPr>
        <p:txBody>
          <a:bodyPr wrap="square">
            <a:spAutoFit/>
          </a:bodyPr>
          <a:lstStyle/>
          <a:p>
            <a:pPr>
              <a:spcAft>
                <a:spcPts val="200"/>
              </a:spcAft>
              <a:defRPr sz="1100" b="1">
                <a:solidFill>
                  <a:srgbClr val="1B663E"/>
                </a:solidFill>
                <a:latin typeface="Montserrat"/>
              </a:defRPr>
            </a:pPr>
            <a:r>
              <a:t>STEP 2</a:t>
            </a:r>
          </a:p>
          <a:p>
            <a:pPr>
              <a:spcAft>
                <a:spcPts val="800"/>
              </a:spcAft>
              <a:defRPr sz="1300" b="1">
                <a:solidFill>
                  <a:srgbClr val="191C21"/>
                </a:solidFill>
                <a:latin typeface="Montserrat"/>
              </a:defRPr>
            </a:pPr>
            <a:r>
              <a:t>Broker &amp; OPA Gate</a:t>
            </a:r>
          </a:p>
          <a:p>
            <a:pPr>
              <a:defRPr sz="1200">
                <a:solidFill>
                  <a:srgbClr val="2D3748"/>
                </a:solidFill>
                <a:latin typeface="IBM Plex Sans"/>
              </a:defRPr>
            </a:pPr>
            <a:r>
              <a:t>Broker validates capability token; verifies phase state before dispatching.</a:t>
            </a:r>
          </a:p>
        </p:txBody>
      </p:sp>
      <p:sp>
        <p:nvSpPr>
          <p:cNvPr id="14" name="Right Arrow 13"/>
          <p:cNvSpPr/>
          <p:nvPr/>
        </p:nvSpPr>
        <p:spPr>
          <a:xfrm>
            <a:off x="7190000" y="4150000"/>
            <a:ext cx="260000" cy="260000"/>
          </a:xfrm>
          <a:prstGeom prst="rightArrow">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510000" y="2750000"/>
            <a:ext cx="2900000" cy="3300000"/>
          </a:xfrm>
          <a:prstGeom prst="roundRect">
            <a:avLst/>
          </a:prstGeom>
          <a:solidFill>
            <a:srgbClr val="FDF2F2"/>
          </a:solidFill>
          <a:ln w="19050">
            <a:solidFill>
              <a:srgbClr val="A4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650000" y="2900000"/>
            <a:ext cx="2620000" cy="280000"/>
          </a:xfrm>
          <a:prstGeom prst="roundRect">
            <a:avLst/>
          </a:prstGeom>
          <a:solidFill>
            <a:srgbClr val="A4232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Montserrat"/>
              </a:defRPr>
            </a:pPr>
            <a:r>
              <a:t>⚔️ Attack Action</a:t>
            </a:r>
          </a:p>
        </p:txBody>
      </p:sp>
      <p:sp>
        <p:nvSpPr>
          <p:cNvPr id="17" name="TextBox 16"/>
          <p:cNvSpPr txBox="1"/>
          <p:nvPr/>
        </p:nvSpPr>
        <p:spPr>
          <a:xfrm>
            <a:off x="7650000" y="3270000"/>
            <a:ext cx="2620000" cy="2600000"/>
          </a:xfrm>
          <a:prstGeom prst="rect">
            <a:avLst/>
          </a:prstGeom>
          <a:noFill/>
        </p:spPr>
        <p:txBody>
          <a:bodyPr wrap="square">
            <a:spAutoFit/>
          </a:bodyPr>
          <a:lstStyle/>
          <a:p>
            <a:pPr>
              <a:spcAft>
                <a:spcPts val="200"/>
              </a:spcAft>
              <a:defRPr sz="1100" b="1">
                <a:solidFill>
                  <a:srgbClr val="A42323"/>
                </a:solidFill>
                <a:latin typeface="Montserrat"/>
              </a:defRPr>
            </a:pPr>
            <a:r>
              <a:t>STEP 3</a:t>
            </a:r>
          </a:p>
          <a:p>
            <a:pPr>
              <a:spcAft>
                <a:spcPts val="800"/>
              </a:spcAft>
              <a:defRPr sz="1300" b="1">
                <a:solidFill>
                  <a:srgbClr val="191C21"/>
                </a:solidFill>
                <a:latin typeface="Montserrat"/>
              </a:defRPr>
            </a:pPr>
            <a:r>
              <a:t>Attempted Escape</a:t>
            </a:r>
          </a:p>
          <a:p>
            <a:pPr>
              <a:defRPr sz="1200">
                <a:solidFill>
                  <a:srgbClr val="2D3748"/>
                </a:solidFill>
                <a:latin typeface="IBM Plex Sans"/>
              </a:defRPr>
            </a:pPr>
            <a:r>
              <a:t>Compromised code probes cloud IMDS (169.254.169.254) or Blue P2P socket.</a:t>
            </a:r>
          </a:p>
        </p:txBody>
      </p:sp>
      <p:sp>
        <p:nvSpPr>
          <p:cNvPr id="18" name="Right Arrow 17"/>
          <p:cNvSpPr/>
          <p:nvPr/>
        </p:nvSpPr>
        <p:spPr>
          <a:xfrm>
            <a:off x="10470000" y="4150000"/>
            <a:ext cx="260000" cy="260000"/>
          </a:xfrm>
          <a:prstGeom prst="rightArrow">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790000" y="2750000"/>
            <a:ext cx="2900000" cy="3300000"/>
          </a:xfrm>
          <a:prstGeom prst="roundRect">
            <a:avLst/>
          </a:prstGeom>
          <a:solidFill>
            <a:srgbClr val="EEF7F2"/>
          </a:solidFill>
          <a:ln w="19050">
            <a:solidFill>
              <a:srgbClr val="1B6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930000" y="2900000"/>
            <a:ext cx="2620000" cy="280000"/>
          </a:xfrm>
          <a:prstGeom prst="roundRect">
            <a:avLst/>
          </a:prstGeom>
          <a:solidFill>
            <a:srgbClr val="1B663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Montserrat"/>
              </a:defRPr>
            </a:pPr>
            <a:r>
              <a:t>🛡️ Enforcement Point</a:t>
            </a:r>
          </a:p>
        </p:txBody>
      </p:sp>
      <p:sp>
        <p:nvSpPr>
          <p:cNvPr id="21" name="TextBox 20"/>
          <p:cNvSpPr txBox="1"/>
          <p:nvPr/>
        </p:nvSpPr>
        <p:spPr>
          <a:xfrm>
            <a:off x="10930000" y="3270000"/>
            <a:ext cx="2620000" cy="2600000"/>
          </a:xfrm>
          <a:prstGeom prst="rect">
            <a:avLst/>
          </a:prstGeom>
          <a:noFill/>
        </p:spPr>
        <p:txBody>
          <a:bodyPr wrap="square">
            <a:spAutoFit/>
          </a:bodyPr>
          <a:lstStyle/>
          <a:p>
            <a:pPr>
              <a:spcAft>
                <a:spcPts val="200"/>
              </a:spcAft>
              <a:defRPr sz="1100" b="1">
                <a:solidFill>
                  <a:srgbClr val="1B663E"/>
                </a:solidFill>
                <a:latin typeface="Montserrat"/>
              </a:defRPr>
            </a:pPr>
            <a:r>
              <a:t>STEP 4</a:t>
            </a:r>
          </a:p>
          <a:p>
            <a:pPr>
              <a:spcAft>
                <a:spcPts val="800"/>
              </a:spcAft>
              <a:defRPr sz="1300" b="1">
                <a:solidFill>
                  <a:srgbClr val="191C21"/>
                </a:solidFill>
                <a:latin typeface="Montserrat"/>
              </a:defRPr>
            </a:pPr>
            <a:r>
              <a:t>eBPF Interception</a:t>
            </a:r>
          </a:p>
          <a:p>
            <a:pPr>
              <a:defRPr sz="1200">
                <a:solidFill>
                  <a:srgbClr val="2D3748"/>
                </a:solidFill>
                <a:latin typeface="IBM Plex Sans"/>
              </a:defRPr>
            </a:pPr>
            <a:r>
              <a:t>Kernel drops packet immediately; emits E_IMDS_DENIED violation to Broker.</a:t>
            </a:r>
          </a:p>
        </p:txBody>
      </p:sp>
      <p:sp>
        <p:nvSpPr>
          <p:cNvPr id="22" name="Right Arrow 21"/>
          <p:cNvSpPr/>
          <p:nvPr/>
        </p:nvSpPr>
        <p:spPr>
          <a:xfrm>
            <a:off x="13750000" y="4150000"/>
            <a:ext cx="260000" cy="260000"/>
          </a:xfrm>
          <a:prstGeom prst="rightArrow">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4070000" y="2750000"/>
            <a:ext cx="2900000" cy="3300000"/>
          </a:xfrm>
          <a:prstGeom prst="roundRect">
            <a:avLst/>
          </a:prstGeom>
          <a:solidFill>
            <a:srgbClr val="EEF7F2"/>
          </a:solidFill>
          <a:ln w="19050">
            <a:solidFill>
              <a:srgbClr val="1B6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4210000" y="2900000"/>
            <a:ext cx="2620000" cy="280000"/>
          </a:xfrm>
          <a:prstGeom prst="roundRect">
            <a:avLst/>
          </a:prstGeom>
          <a:solidFill>
            <a:srgbClr val="1B663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Montserrat"/>
              </a:defRPr>
            </a:pPr>
            <a:r>
              <a:t>🛡️ Enforcement Point</a:t>
            </a:r>
          </a:p>
        </p:txBody>
      </p:sp>
      <p:sp>
        <p:nvSpPr>
          <p:cNvPr id="25" name="TextBox 24"/>
          <p:cNvSpPr txBox="1"/>
          <p:nvPr/>
        </p:nvSpPr>
        <p:spPr>
          <a:xfrm>
            <a:off x="14210000" y="3270000"/>
            <a:ext cx="2620000" cy="2600000"/>
          </a:xfrm>
          <a:prstGeom prst="rect">
            <a:avLst/>
          </a:prstGeom>
          <a:noFill/>
        </p:spPr>
        <p:txBody>
          <a:bodyPr wrap="square">
            <a:spAutoFit/>
          </a:bodyPr>
          <a:lstStyle/>
          <a:p>
            <a:pPr>
              <a:spcAft>
                <a:spcPts val="200"/>
              </a:spcAft>
              <a:defRPr sz="1100" b="1">
                <a:solidFill>
                  <a:srgbClr val="1B663E"/>
                </a:solidFill>
                <a:latin typeface="Montserrat"/>
              </a:defRPr>
            </a:pPr>
            <a:r>
              <a:t>STEP 5</a:t>
            </a:r>
          </a:p>
          <a:p>
            <a:pPr>
              <a:spcAft>
                <a:spcPts val="800"/>
              </a:spcAft>
              <a:defRPr sz="1300" b="1">
                <a:solidFill>
                  <a:srgbClr val="191C21"/>
                </a:solidFill>
                <a:latin typeface="Montserrat"/>
              </a:defRPr>
            </a:pPr>
            <a:r>
              <a:t>WORM Chain Commit</a:t>
            </a:r>
          </a:p>
          <a:p>
            <a:pPr>
              <a:defRPr sz="1200">
                <a:solidFill>
                  <a:srgbClr val="2D3748"/>
                </a:solidFill>
                <a:latin typeface="IBM Plex Sans"/>
              </a:defRPr>
            </a:pPr>
            <a:r>
              <a:t>Violation event hashed into WORM block; Merkle root updated immediately.</a:t>
            </a:r>
          </a:p>
        </p:txBody>
      </p:sp>
      <p:sp>
        <p:nvSpPr>
          <p:cNvPr id="26" name="Rounded Rectangle 25"/>
          <p:cNvSpPr/>
          <p:nvPr/>
        </p:nvSpPr>
        <p:spPr>
          <a:xfrm>
            <a:off x="731520" y="6900000"/>
            <a:ext cx="8200000" cy="2350000"/>
          </a:xfrm>
          <a:prstGeom prst="roundRect">
            <a:avLst/>
          </a:prstGeom>
          <a:solidFill>
            <a:srgbClr val="F9FBFD"/>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50000" y="7050000"/>
            <a:ext cx="3600000" cy="280000"/>
          </a:xfrm>
          <a:prstGeom prst="roundRect">
            <a:avLst/>
          </a:prstGeom>
          <a:solidFill>
            <a:srgbClr val="5A457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Montserrat"/>
              </a:defRPr>
            </a:pPr>
            <a:r>
              <a:t>MITIGATED ATTACK VECTORS (§T)</a:t>
            </a:r>
          </a:p>
        </p:txBody>
      </p:sp>
      <p:sp>
        <p:nvSpPr>
          <p:cNvPr id="28" name="TextBox 27"/>
          <p:cNvSpPr txBox="1"/>
          <p:nvPr/>
        </p:nvSpPr>
        <p:spPr>
          <a:xfrm>
            <a:off x="950000" y="7400000"/>
            <a:ext cx="7760000" cy="1700000"/>
          </a:xfrm>
          <a:prstGeom prst="rect">
            <a:avLst/>
          </a:prstGeom>
          <a:noFill/>
        </p:spPr>
        <p:txBody>
          <a:bodyPr wrap="square">
            <a:spAutoFit/>
          </a:bodyPr>
          <a:lstStyle/>
          <a:p>
            <a:pPr>
              <a:spcAft>
                <a:spcPts val="400"/>
              </a:spcAft>
            </a:pPr>
            <a:r>
              <a:rPr sz="1300" b="1">
                <a:solidFill>
                  <a:srgbClr val="191C21"/>
                </a:solidFill>
                <a:latin typeface="IBM Plex Sans"/>
              </a:rPr>
              <a:t>• Cloud IMDS Probes: </a:t>
            </a:r>
            <a:r>
              <a:rPr sz="1300">
                <a:solidFill>
                  <a:srgbClr val="2D3748"/>
                </a:solidFill>
                <a:latin typeface="IBM Plex Sans"/>
              </a:rPr>
              <a:t>Blocks unauthorized AWS/GCP metadata credentials harvesting.</a:t>
            </a:r>
          </a:p>
          <a:p>
            <a:pPr>
              <a:spcAft>
                <a:spcPts val="400"/>
              </a:spcAft>
            </a:pPr>
            <a:r>
              <a:rPr sz="1300" b="1">
                <a:solidFill>
                  <a:srgbClr val="191C21"/>
                </a:solidFill>
                <a:latin typeface="IBM Plex Sans"/>
              </a:rPr>
              <a:t>• Cross-Sandbox Snooping: </a:t>
            </a:r>
            <a:r>
              <a:rPr sz="1300">
                <a:solidFill>
                  <a:srgbClr val="2D3748"/>
                </a:solidFill>
                <a:latin typeface="IBM Plex Sans"/>
              </a:rPr>
              <a:t>Structurally eliminates direct P2P socket connections between sandboxes.</a:t>
            </a:r>
          </a:p>
          <a:p>
            <a:pPr>
              <a:spcAft>
                <a:spcPts val="400"/>
              </a:spcAft>
            </a:pPr>
            <a:r>
              <a:rPr sz="1300" b="1">
                <a:solidFill>
                  <a:srgbClr val="191C21"/>
                </a:solidFill>
                <a:latin typeface="IBM Plex Sans"/>
              </a:rPr>
              <a:t>• Timing Side-Channels: </a:t>
            </a:r>
            <a:r>
              <a:rPr sz="1300">
                <a:solidFill>
                  <a:srgbClr val="2D3748"/>
                </a:solidFill>
                <a:latin typeface="IBM Plex Sans"/>
              </a:rPr>
              <a:t>Uniform 250ms buckets neutralize latency analysis attacks.</a:t>
            </a:r>
          </a:p>
        </p:txBody>
      </p:sp>
      <p:sp>
        <p:nvSpPr>
          <p:cNvPr id="29" name="Rounded Rectangle 28"/>
          <p:cNvSpPr/>
          <p:nvPr/>
        </p:nvSpPr>
        <p:spPr>
          <a:xfrm>
            <a:off x="9356480" y="6900000"/>
            <a:ext cx="8200000" cy="2350000"/>
          </a:xfrm>
          <a:prstGeom prst="roundRect">
            <a:avLst/>
          </a:prstGeom>
          <a:solidFill>
            <a:srgbClr val="F9FBFD"/>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580000" y="7050000"/>
            <a:ext cx="3600000" cy="280000"/>
          </a:xfrm>
          <a:prstGeom prst="roundRect">
            <a:avLst/>
          </a:prstGeom>
          <a:solidFill>
            <a:srgbClr val="1F3A6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Montserrat"/>
              </a:defRPr>
            </a:pPr>
            <a:r>
              <a:t>POC VS PRODUCTION ENFORCEMENT</a:t>
            </a:r>
          </a:p>
        </p:txBody>
      </p:sp>
      <p:sp>
        <p:nvSpPr>
          <p:cNvPr id="31" name="TextBox 30"/>
          <p:cNvSpPr txBox="1"/>
          <p:nvPr/>
        </p:nvSpPr>
        <p:spPr>
          <a:xfrm>
            <a:off x="9580000" y="7400000"/>
            <a:ext cx="7760000" cy="1700000"/>
          </a:xfrm>
          <a:prstGeom prst="rect">
            <a:avLst/>
          </a:prstGeom>
          <a:noFill/>
        </p:spPr>
        <p:txBody>
          <a:bodyPr wrap="square">
            <a:spAutoFit/>
          </a:bodyPr>
          <a:lstStyle/>
          <a:p>
            <a:pPr>
              <a:spcAft>
                <a:spcPts val="400"/>
              </a:spcAft>
            </a:pPr>
            <a:r>
              <a:rPr sz="1300" b="1">
                <a:solidFill>
                  <a:srgbClr val="191C21"/>
                </a:solidFill>
                <a:latin typeface="IBM Plex Sans"/>
              </a:rPr>
              <a:t>• PoC Enforcement: </a:t>
            </a:r>
            <a:r>
              <a:rPr sz="1300">
                <a:solidFill>
                  <a:srgbClr val="2D3748"/>
                </a:solidFill>
                <a:latin typeface="IBM Plex Sans"/>
              </a:rPr>
              <a:t>Node.js worker_threads memory bounds + OPA software filters.</a:t>
            </a:r>
          </a:p>
          <a:p>
            <a:pPr>
              <a:spcAft>
                <a:spcPts val="400"/>
              </a:spcAft>
            </a:pPr>
            <a:r>
              <a:rPr sz="1300" b="1">
                <a:solidFill>
                  <a:srgbClr val="191C21"/>
                </a:solidFill>
                <a:latin typeface="IBM Plex Sans"/>
              </a:rPr>
              <a:t>• Production Target: </a:t>
            </a:r>
            <a:r>
              <a:rPr sz="1300">
                <a:solidFill>
                  <a:srgbClr val="2D3748"/>
                </a:solidFill>
                <a:latin typeface="IBM Plex Sans"/>
              </a:rPr>
              <a:t>Hardware Kata microVMs + Linux Cilium eBPF CNI enclaves.</a:t>
            </a:r>
          </a:p>
          <a:p>
            <a:pPr>
              <a:spcAft>
                <a:spcPts val="400"/>
              </a:spcAft>
            </a:pPr>
            <a:r>
              <a:rPr sz="1300" b="1">
                <a:solidFill>
                  <a:srgbClr val="191C21"/>
                </a:solidFill>
                <a:latin typeface="IBM Plex Sans"/>
              </a:rPr>
              <a:t>• Auditor Guarantee: </a:t>
            </a:r>
            <a:r>
              <a:rPr sz="1300">
                <a:solidFill>
                  <a:srgbClr val="2D3748"/>
                </a:solidFill>
                <a:latin typeface="IBM Plex Sans"/>
              </a:rPr>
              <a:t>Tamper-evident audit chain alerts on storage mutation attempts.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8288000" cy="1205517"/>
          </a:xfrm>
          <a:prstGeom prst="rect">
            <a:avLst/>
          </a:prstGeom>
        </p:spPr>
      </p:pic>
      <p:sp>
        <p:nvSpPr>
          <p:cNvPr id="3" name="TextBox 2"/>
          <p:cNvSpPr txBox="1"/>
          <p:nvPr/>
        </p:nvSpPr>
        <p:spPr>
          <a:xfrm>
            <a:off x="731520" y="1220000"/>
            <a:ext cx="16824960" cy="450000"/>
          </a:xfrm>
          <a:prstGeom prst="rect">
            <a:avLst/>
          </a:prstGeom>
          <a:noFill/>
        </p:spPr>
        <p:txBody>
          <a:bodyPr wrap="square" lIns="0" tIns="0" rIns="0" bIns="0">
            <a:spAutoFit/>
          </a:bodyPr>
          <a:lstStyle/>
          <a:p>
            <a:pPr>
              <a:defRPr sz="2400" b="1">
                <a:solidFill>
                  <a:srgbClr val="191C21"/>
                </a:solidFill>
                <a:latin typeface="Montserrat"/>
              </a:defRPr>
            </a:pPr>
            <a:r>
              <a:t>EMPIRICAL VERIFICATION</a:t>
            </a:r>
          </a:p>
        </p:txBody>
      </p:sp>
      <p:sp>
        <p:nvSpPr>
          <p:cNvPr id="4" name="TextBox 3"/>
          <p:cNvSpPr txBox="1"/>
          <p:nvPr/>
        </p:nvSpPr>
        <p:spPr>
          <a:xfrm>
            <a:off x="731520" y="1700000"/>
            <a:ext cx="16824960" cy="380000"/>
          </a:xfrm>
          <a:prstGeom prst="rect">
            <a:avLst/>
          </a:prstGeom>
          <a:noFill/>
        </p:spPr>
        <p:txBody>
          <a:bodyPr wrap="square" lIns="0" tIns="0" rIns="0" bIns="0">
            <a:spAutoFit/>
          </a:bodyPr>
          <a:lstStyle/>
          <a:p>
            <a:pPr>
              <a:defRPr sz="1250" b="1">
                <a:solidFill>
                  <a:srgbClr val="565D6C"/>
                </a:solidFill>
                <a:latin typeface="Montserrat"/>
              </a:defRPr>
            </a:pPr>
            <a:r>
              <a:t>Live Verification: 9/9 PoC Formal Tests Passed &amp; 7/7 Adversarial Probes Mitigated</a:t>
            </a:r>
          </a:p>
        </p:txBody>
      </p:sp>
      <p:sp>
        <p:nvSpPr>
          <p:cNvPr id="5" name="Rounded Rectangle 4"/>
          <p:cNvSpPr/>
          <p:nvPr/>
        </p:nvSpPr>
        <p:spPr>
          <a:xfrm>
            <a:off x="731520" y="2200000"/>
            <a:ext cx="8138160" cy="7100000"/>
          </a:xfrm>
          <a:prstGeom prst="roundRect">
            <a:avLst/>
          </a:prstGeom>
          <a:solidFill>
            <a:srgbClr val="F9FBFD"/>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05840" y="2360000"/>
            <a:ext cx="3600000" cy="280000"/>
          </a:xfrm>
          <a:prstGeom prst="roundRect">
            <a:avLst/>
          </a:prstGeom>
          <a:solidFill>
            <a:srgbClr val="1B663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50" b="1">
                <a:solidFill>
                  <a:srgbClr val="FFFFFF"/>
                </a:solidFill>
                <a:latin typeface="Montserrat"/>
              </a:defRPr>
            </a:pPr>
            <a:r>
              <a:t>POC TEST SUITE (§S) • 9/9 PASSED</a:t>
            </a:r>
          </a:p>
        </p:txBody>
      </p:sp>
      <p:pic>
        <p:nvPicPr>
          <p:cNvPr id="7" name="Picture 6" descr="image.png"/>
          <p:cNvPicPr>
            <a:picLocks noChangeAspect="1"/>
          </p:cNvPicPr>
          <p:nvPr/>
        </p:nvPicPr>
        <p:blipFill>
          <a:blip r:embed="rId4"/>
          <a:stretch>
            <a:fillRect/>
          </a:stretch>
        </p:blipFill>
        <p:spPr>
          <a:xfrm>
            <a:off x="950000" y="2700000"/>
            <a:ext cx="7700000" cy="3950000"/>
          </a:xfrm>
          <a:prstGeom prst="rect">
            <a:avLst/>
          </a:prstGeom>
        </p:spPr>
      </p:pic>
      <p:sp>
        <p:nvSpPr>
          <p:cNvPr id="8" name="TextBox 7"/>
          <p:cNvSpPr txBox="1"/>
          <p:nvPr/>
        </p:nvSpPr>
        <p:spPr>
          <a:xfrm>
            <a:off x="1005840" y="6750000"/>
            <a:ext cx="7589520" cy="1350000"/>
          </a:xfrm>
          <a:prstGeom prst="rect">
            <a:avLst/>
          </a:prstGeom>
          <a:noFill/>
        </p:spPr>
        <p:txBody>
          <a:bodyPr wrap="square">
            <a:spAutoFit/>
          </a:bodyPr>
          <a:lstStyle/>
          <a:p>
            <a:pPr>
              <a:spcAft>
                <a:spcPts val="600"/>
              </a:spcAft>
            </a:pPr>
            <a:r>
              <a:rPr sz="1350" b="1">
                <a:solidFill>
                  <a:srgbClr val="191C21"/>
                </a:solidFill>
                <a:latin typeface="IBM Plex Sans"/>
              </a:rPr>
              <a:t>• 100% Boundary Isolation: </a:t>
            </a:r>
            <a:r>
              <a:rPr sz="1350">
                <a:solidFill>
                  <a:srgbClr val="2D3748"/>
                </a:solidFill>
                <a:latin typeface="IBM Plex Sans"/>
              </a:rPr>
              <a:t>All 9 formal assertions verified live in test suite.</a:t>
            </a:r>
          </a:p>
          <a:p>
            <a:pPr>
              <a:spcAft>
                <a:spcPts val="600"/>
              </a:spcAft>
            </a:pPr>
            <a:r>
              <a:rPr sz="1350" b="1">
                <a:solidFill>
                  <a:srgbClr val="191C21"/>
                </a:solidFill>
                <a:latin typeface="IBM Plex Sans"/>
              </a:rPr>
              <a:t>• V8 Memory Bounds: </a:t>
            </a:r>
            <a:r>
              <a:rPr sz="1350">
                <a:solidFill>
                  <a:srgbClr val="2D3748"/>
                </a:solidFill>
                <a:latin typeface="IBM Plex Sans"/>
              </a:rPr>
              <a:t>Verified with Node.js worker_threads and heap limits.</a:t>
            </a:r>
          </a:p>
          <a:p>
            <a:pPr>
              <a:spcAft>
                <a:spcPts val="600"/>
              </a:spcAft>
            </a:pPr>
            <a:r>
              <a:rPr sz="1350" b="1">
                <a:solidFill>
                  <a:srgbClr val="191C21"/>
                </a:solidFill>
                <a:latin typeface="IBM Plex Sans"/>
              </a:rPr>
              <a:t>• High Test Coverage: </a:t>
            </a:r>
            <a:r>
              <a:rPr sz="1350">
                <a:solidFill>
                  <a:srgbClr val="2D3748"/>
                </a:solidFill>
                <a:latin typeface="IBM Plex Sans"/>
              </a:rPr>
              <a:t>94.08% statement coverage achieved across platform subsystems.</a:t>
            </a:r>
          </a:p>
        </p:txBody>
      </p:sp>
      <p:sp>
        <p:nvSpPr>
          <p:cNvPr id="9" name="Rounded Rectangle 8"/>
          <p:cNvSpPr/>
          <p:nvPr/>
        </p:nvSpPr>
        <p:spPr>
          <a:xfrm>
            <a:off x="1005840" y="8250000"/>
            <a:ext cx="7589520" cy="850000"/>
          </a:xfrm>
          <a:prstGeom prst="roundRect">
            <a:avLst/>
          </a:prstGeom>
          <a:solidFill>
            <a:srgbClr val="FFFFFF"/>
          </a:solidFill>
          <a:ln w="15875">
            <a:solidFill>
              <a:srgbClr val="1B6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8300000"/>
            <a:ext cx="7406640" cy="750000"/>
          </a:xfrm>
          <a:prstGeom prst="rect">
            <a:avLst/>
          </a:prstGeom>
          <a:noFill/>
        </p:spPr>
        <p:txBody>
          <a:bodyPr wrap="square">
            <a:spAutoFit/>
          </a:bodyPr>
          <a:lstStyle/>
          <a:p>
            <a:pPr>
              <a:spcAft>
                <a:spcPts val="200"/>
              </a:spcAft>
              <a:defRPr sz="1000" b="1">
                <a:solidFill>
                  <a:srgbClr val="1B663E"/>
                </a:solidFill>
                <a:latin typeface="Montserrat"/>
              </a:defRPr>
            </a:pPr>
            <a:r>
              <a:t>✅ FORMAL SPECIFICATION VERIFICATION</a:t>
            </a:r>
          </a:p>
          <a:p>
            <a:pPr>
              <a:defRPr sz="1200" b="1">
                <a:solidFill>
                  <a:srgbClr val="191C21"/>
                </a:solidFill>
                <a:latin typeface="IBM Plex Sans"/>
              </a:defRPr>
            </a:pPr>
            <a:r>
              <a:t>Execute live suite: npm run test:all — 9/9 PoC tests passed, 94.08% statement coverage.</a:t>
            </a:r>
          </a:p>
        </p:txBody>
      </p:sp>
      <p:sp>
        <p:nvSpPr>
          <p:cNvPr id="11" name="Rounded Rectangle 10"/>
          <p:cNvSpPr/>
          <p:nvPr/>
        </p:nvSpPr>
        <p:spPr>
          <a:xfrm>
            <a:off x="9235440" y="2200000"/>
            <a:ext cx="8138160" cy="7100000"/>
          </a:xfrm>
          <a:prstGeom prst="roundRect">
            <a:avLst/>
          </a:prstGeom>
          <a:solidFill>
            <a:srgbClr val="F9FBFD"/>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509760" y="2360000"/>
            <a:ext cx="4000000" cy="280000"/>
          </a:xfrm>
          <a:prstGeom prst="roundRect">
            <a:avLst/>
          </a:prstGeom>
          <a:solidFill>
            <a:srgbClr val="5A457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50" b="1">
                <a:solidFill>
                  <a:srgbClr val="FFFFFF"/>
                </a:solidFill>
                <a:latin typeface="Montserrat"/>
              </a:defRPr>
            </a:pPr>
            <a:r>
              <a:t>ATTACK SIMULATIONS (§T) • 7/7 MITIGATED</a:t>
            </a:r>
          </a:p>
        </p:txBody>
      </p:sp>
      <p:pic>
        <p:nvPicPr>
          <p:cNvPr id="13" name="Picture 12" descr="image.png"/>
          <p:cNvPicPr>
            <a:picLocks noChangeAspect="1"/>
          </p:cNvPicPr>
          <p:nvPr/>
        </p:nvPicPr>
        <p:blipFill>
          <a:blip r:embed="rId5"/>
          <a:stretch>
            <a:fillRect/>
          </a:stretch>
        </p:blipFill>
        <p:spPr>
          <a:xfrm>
            <a:off x="9450000" y="2700000"/>
            <a:ext cx="7700000" cy="3950000"/>
          </a:xfrm>
          <a:prstGeom prst="rect">
            <a:avLst/>
          </a:prstGeom>
        </p:spPr>
      </p:pic>
      <p:sp>
        <p:nvSpPr>
          <p:cNvPr id="14" name="TextBox 13"/>
          <p:cNvSpPr txBox="1"/>
          <p:nvPr/>
        </p:nvSpPr>
        <p:spPr>
          <a:xfrm>
            <a:off x="9509760" y="6750000"/>
            <a:ext cx="7589520" cy="1350000"/>
          </a:xfrm>
          <a:prstGeom prst="rect">
            <a:avLst/>
          </a:prstGeom>
          <a:noFill/>
        </p:spPr>
        <p:txBody>
          <a:bodyPr wrap="square">
            <a:spAutoFit/>
          </a:bodyPr>
          <a:lstStyle/>
          <a:p>
            <a:pPr>
              <a:spcAft>
                <a:spcPts val="600"/>
              </a:spcAft>
            </a:pPr>
            <a:r>
              <a:rPr sz="1350" b="1">
                <a:solidFill>
                  <a:srgbClr val="191C21"/>
                </a:solidFill>
                <a:latin typeface="IBM Plex Sans"/>
              </a:rPr>
              <a:t>• 7 Attack Classes Intercepted: </a:t>
            </a:r>
            <a:r>
              <a:rPr sz="1350">
                <a:solidFill>
                  <a:srgbClr val="2D3748"/>
                </a:solidFill>
                <a:latin typeface="IBM Plex Sans"/>
              </a:rPr>
              <a:t>IMDS, timing, cache bleed, escalation, tamper, drift, chaos.</a:t>
            </a:r>
          </a:p>
          <a:p>
            <a:pPr>
              <a:spcAft>
                <a:spcPts val="600"/>
              </a:spcAft>
            </a:pPr>
            <a:r>
              <a:rPr sz="1350" b="1">
                <a:solidFill>
                  <a:srgbClr val="191C21"/>
                </a:solidFill>
                <a:latin typeface="IBM Plex Sans"/>
              </a:rPr>
              <a:t>• Downgrade Assurance: </a:t>
            </a:r>
            <a:r>
              <a:rPr sz="1350">
                <a:solidFill>
                  <a:srgbClr val="2D3748"/>
                </a:solidFill>
                <a:latin typeface="IBM Plex Sans"/>
              </a:rPr>
              <a:t>Infrastructure jitter downgrades to INFRA_FAILURE, avoiding false positives.</a:t>
            </a:r>
          </a:p>
          <a:p>
            <a:pPr>
              <a:spcAft>
                <a:spcPts val="600"/>
              </a:spcAft>
            </a:pPr>
            <a:r>
              <a:rPr sz="1350" b="1">
                <a:solidFill>
                  <a:srgbClr val="191C21"/>
                </a:solidFill>
                <a:latin typeface="IBM Plex Sans"/>
              </a:rPr>
              <a:t>• Tamper Alarm: </a:t>
            </a:r>
            <a:r>
              <a:rPr sz="1350">
                <a:solidFill>
                  <a:srgbClr val="2D3748"/>
                </a:solidFill>
                <a:latin typeface="IBM Plex Sans"/>
              </a:rPr>
              <a:t>Immediate Merkle divergence detected upon unauthorized block mutation.</a:t>
            </a:r>
          </a:p>
        </p:txBody>
      </p:sp>
      <p:sp>
        <p:nvSpPr>
          <p:cNvPr id="15" name="Rounded Rectangle 14"/>
          <p:cNvSpPr/>
          <p:nvPr/>
        </p:nvSpPr>
        <p:spPr>
          <a:xfrm>
            <a:off x="9509760" y="8250000"/>
            <a:ext cx="7589520" cy="850000"/>
          </a:xfrm>
          <a:prstGeom prst="roundRect">
            <a:avLst/>
          </a:prstGeom>
          <a:solidFill>
            <a:srgbClr val="FFFFFF"/>
          </a:solidFill>
          <a:ln w="15875">
            <a:solidFill>
              <a:srgbClr val="5A45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0" y="8300000"/>
            <a:ext cx="7406640" cy="750000"/>
          </a:xfrm>
          <a:prstGeom prst="rect">
            <a:avLst/>
          </a:prstGeom>
          <a:noFill/>
        </p:spPr>
        <p:txBody>
          <a:bodyPr wrap="square">
            <a:spAutoFit/>
          </a:bodyPr>
          <a:lstStyle/>
          <a:p>
            <a:pPr>
              <a:spcAft>
                <a:spcPts val="200"/>
              </a:spcAft>
              <a:defRPr sz="1000" b="1">
                <a:solidFill>
                  <a:srgbClr val="5A4574"/>
                </a:solidFill>
                <a:latin typeface="Montserrat"/>
              </a:defRPr>
            </a:pPr>
            <a:r>
              <a:t>📚 SUPPORTED / PLANNED BENCHMARKS</a:t>
            </a:r>
          </a:p>
          <a:p>
            <a:pPr>
              <a:defRPr sz="1150" b="1">
                <a:solidFill>
                  <a:srgbClr val="191C21"/>
                </a:solidFill>
                <a:latin typeface="IBM Plex Sans"/>
              </a:defRPr>
            </a:pPr>
            <a:r>
              <a:t>AdvBench (520) • JailbreakBench (200) • HarmBench (400) • ToxiGen (27.4k) • Lakera (1k) • [CONFIRM: DARPA TC, Anthropic RLHF, CVEs]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8288000" cy="1205517"/>
          </a:xfrm>
          <a:prstGeom prst="rect">
            <a:avLst/>
          </a:prstGeom>
        </p:spPr>
      </p:pic>
      <p:sp>
        <p:nvSpPr>
          <p:cNvPr id="3" name="TextBox 2"/>
          <p:cNvSpPr txBox="1"/>
          <p:nvPr/>
        </p:nvSpPr>
        <p:spPr>
          <a:xfrm>
            <a:off x="731520" y="1220000"/>
            <a:ext cx="16824960" cy="450000"/>
          </a:xfrm>
          <a:prstGeom prst="rect">
            <a:avLst/>
          </a:prstGeom>
          <a:noFill/>
        </p:spPr>
        <p:txBody>
          <a:bodyPr wrap="square" lIns="0" tIns="0" rIns="0" bIns="0">
            <a:spAutoFit/>
          </a:bodyPr>
          <a:lstStyle/>
          <a:p>
            <a:pPr>
              <a:defRPr sz="2400" b="1">
                <a:solidFill>
                  <a:srgbClr val="191C21"/>
                </a:solidFill>
                <a:latin typeface="Montserrat"/>
              </a:defRPr>
            </a:pPr>
            <a:r>
              <a:t>MARKET RESEARCH/ANALYSIS</a:t>
            </a:r>
          </a:p>
        </p:txBody>
      </p:sp>
      <p:sp>
        <p:nvSpPr>
          <p:cNvPr id="4" name="TextBox 3"/>
          <p:cNvSpPr txBox="1"/>
          <p:nvPr/>
        </p:nvSpPr>
        <p:spPr>
          <a:xfrm>
            <a:off x="731520" y="1700000"/>
            <a:ext cx="16824960" cy="380000"/>
          </a:xfrm>
          <a:prstGeom prst="rect">
            <a:avLst/>
          </a:prstGeom>
          <a:noFill/>
        </p:spPr>
        <p:txBody>
          <a:bodyPr wrap="square" lIns="0" tIns="0" rIns="0" bIns="0">
            <a:spAutoFit/>
          </a:bodyPr>
          <a:lstStyle/>
          <a:p>
            <a:pPr>
              <a:defRPr sz="1250" b="1">
                <a:solidFill>
                  <a:srgbClr val="565D6C"/>
                </a:solidFill>
                <a:latin typeface="Montserrat"/>
              </a:defRPr>
            </a:pPr>
            <a:r>
              <a:t>Market Sizing, Target Segments, Business Model &amp; Regulatory Catalysts</a:t>
            </a:r>
          </a:p>
        </p:txBody>
      </p:sp>
      <p:sp>
        <p:nvSpPr>
          <p:cNvPr id="5" name="Rounded Rectangle 4"/>
          <p:cNvSpPr/>
          <p:nvPr/>
        </p:nvSpPr>
        <p:spPr>
          <a:xfrm>
            <a:off x="731520" y="2200000"/>
            <a:ext cx="3977639" cy="6750000"/>
          </a:xfrm>
          <a:prstGeom prst="roundRect">
            <a:avLst/>
          </a:prstGeom>
          <a:solidFill>
            <a:srgbClr val="F9FBFD"/>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31520" y="2360000"/>
            <a:ext cx="2400000" cy="280000"/>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Montserrat"/>
              </a:defRPr>
            </a:pPr>
            <a:r>
              <a:t>KEY SEGMENTS</a:t>
            </a:r>
          </a:p>
        </p:txBody>
      </p:sp>
      <p:sp>
        <p:nvSpPr>
          <p:cNvPr id="7" name="TextBox 6"/>
          <p:cNvSpPr txBox="1"/>
          <p:nvPr/>
        </p:nvSpPr>
        <p:spPr>
          <a:xfrm>
            <a:off x="931520" y="2720000"/>
            <a:ext cx="3577639" cy="4900000"/>
          </a:xfrm>
          <a:prstGeom prst="rect">
            <a:avLst/>
          </a:prstGeom>
          <a:noFill/>
        </p:spPr>
        <p:txBody>
          <a:bodyPr wrap="square">
            <a:spAutoFit/>
          </a:bodyPr>
          <a:lstStyle/>
          <a:p>
            <a:pPr>
              <a:spcAft>
                <a:spcPts val="1000"/>
              </a:spcAft>
              <a:defRPr sz="1500" b="1">
                <a:solidFill>
                  <a:srgbClr val="191C21"/>
                </a:solidFill>
                <a:latin typeface="Montserrat"/>
              </a:defRPr>
            </a:pPr>
            <a:r>
              <a:t>Target Segments</a:t>
            </a:r>
          </a:p>
          <a:p>
            <a:pPr>
              <a:spcAft>
                <a:spcPts val="800"/>
              </a:spcAft>
            </a:pPr>
            <a:r>
              <a:rPr sz="1300" b="1">
                <a:solidFill>
                  <a:srgbClr val="191C21"/>
                </a:solidFill>
                <a:latin typeface="IBM Plex Sans"/>
              </a:rPr>
              <a:t>• Frontier AI Labs: </a:t>
            </a:r>
            <a:r>
              <a:rPr sz="1300">
                <a:solidFill>
                  <a:srgbClr val="2D3748"/>
                </a:solidFill>
                <a:latin typeface="IBM Plex Sans"/>
              </a:rPr>
              <a:t>Conducting pre-deployment safety testing with external whitehats.</a:t>
            </a:r>
          </a:p>
          <a:p>
            <a:pPr>
              <a:spcAft>
                <a:spcPts val="800"/>
              </a:spcAft>
            </a:pPr>
            <a:r>
              <a:rPr sz="1300" b="1">
                <a:solidFill>
                  <a:srgbClr val="191C21"/>
                </a:solidFill>
                <a:latin typeface="IBM Plex Sans"/>
              </a:rPr>
              <a:t>• Enterprise Adopters: </a:t>
            </a:r>
            <a:r>
              <a:rPr sz="1300">
                <a:solidFill>
                  <a:srgbClr val="2D3748"/>
                </a:solidFill>
                <a:latin typeface="IBM Plex Sans"/>
              </a:rPr>
              <a:t>Evaluating vendor LLMs for regulated banking and healthcare.</a:t>
            </a:r>
          </a:p>
          <a:p>
            <a:pPr>
              <a:spcAft>
                <a:spcPts val="800"/>
              </a:spcAft>
            </a:pPr>
            <a:r>
              <a:rPr sz="1300" b="1">
                <a:solidFill>
                  <a:srgbClr val="191C21"/>
                </a:solidFill>
                <a:latin typeface="IBM Plex Sans"/>
              </a:rPr>
              <a:t>• Independent Auditors: </a:t>
            </a:r>
            <a:r>
              <a:rPr sz="1300">
                <a:solidFill>
                  <a:srgbClr val="2D3748"/>
                </a:solidFill>
                <a:latin typeface="IBM Plex Sans"/>
              </a:rPr>
              <a:t>Certifying compliance with emerging international AI governance.</a:t>
            </a:r>
          </a:p>
          <a:p>
            <a:pPr>
              <a:spcAft>
                <a:spcPts val="800"/>
              </a:spcAft>
            </a:pPr>
            <a:r>
              <a:rPr sz="1300" b="1">
                <a:solidFill>
                  <a:srgbClr val="191C21"/>
                </a:solidFill>
                <a:latin typeface="IBM Plex Sans"/>
              </a:rPr>
              <a:t>• Academic Researchers: </a:t>
            </a:r>
            <a:r>
              <a:rPr sz="1300">
                <a:solidFill>
                  <a:srgbClr val="2D3748"/>
                </a:solidFill>
                <a:latin typeface="IBM Plex Sans"/>
              </a:rPr>
              <a:t>Requiring reproducible, isolated testbeds for adversarial experiments.</a:t>
            </a:r>
          </a:p>
        </p:txBody>
      </p:sp>
      <p:sp>
        <p:nvSpPr>
          <p:cNvPr id="8" name="Rounded Rectangle 7"/>
          <p:cNvSpPr/>
          <p:nvPr/>
        </p:nvSpPr>
        <p:spPr>
          <a:xfrm>
            <a:off x="931520" y="7750000"/>
            <a:ext cx="3577639" cy="1050000"/>
          </a:xfrm>
          <a:prstGeom prst="roundRect">
            <a:avLst/>
          </a:prstGeom>
          <a:solidFill>
            <a:srgbClr val="FFFFFF"/>
          </a:solidFill>
          <a:ln w="15875">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1520" y="7800000"/>
            <a:ext cx="3477639" cy="950000"/>
          </a:xfrm>
          <a:prstGeom prst="rect">
            <a:avLst/>
          </a:prstGeom>
          <a:noFill/>
        </p:spPr>
        <p:txBody>
          <a:bodyPr wrap="square">
            <a:spAutoFit/>
          </a:bodyPr>
          <a:lstStyle/>
          <a:p>
            <a:pPr>
              <a:spcAft>
                <a:spcPts val="200"/>
              </a:spcAft>
              <a:defRPr sz="950" b="1">
                <a:solidFill>
                  <a:srgbClr val="0066CC"/>
                </a:solidFill>
                <a:latin typeface="Montserrat"/>
              </a:defRPr>
            </a:pPr>
            <a:r>
              <a:t>🎯 PRIMARY BUYER PERSONA</a:t>
            </a:r>
          </a:p>
          <a:p>
            <a:pPr>
              <a:defRPr sz="1200" b="1">
                <a:solidFill>
                  <a:srgbClr val="191C21"/>
                </a:solidFill>
                <a:latin typeface="IBM Plex Sans"/>
              </a:defRPr>
            </a:pPr>
            <a:r>
              <a:t>CISOs and AI Safety Compliance Officers in Fortune 500 enterprises.</a:t>
            </a:r>
          </a:p>
        </p:txBody>
      </p:sp>
      <p:sp>
        <p:nvSpPr>
          <p:cNvPr id="10" name="Rounded Rectangle 9"/>
          <p:cNvSpPr/>
          <p:nvPr/>
        </p:nvSpPr>
        <p:spPr>
          <a:xfrm>
            <a:off x="4937760" y="2200000"/>
            <a:ext cx="3977639" cy="6750000"/>
          </a:xfrm>
          <a:prstGeom prst="roundRect">
            <a:avLst/>
          </a:prstGeom>
          <a:solidFill>
            <a:srgbClr val="F9FBFD"/>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37760" y="2360000"/>
            <a:ext cx="2400000" cy="280000"/>
          </a:xfrm>
          <a:prstGeom prst="roundRect">
            <a:avLst/>
          </a:prstGeom>
          <a:solidFill>
            <a:srgbClr val="1B663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Montserrat"/>
              </a:defRPr>
            </a:pPr>
            <a:r>
              <a:t>MARKET SIZE*</a:t>
            </a:r>
          </a:p>
        </p:txBody>
      </p:sp>
      <p:sp>
        <p:nvSpPr>
          <p:cNvPr id="12" name="TextBox 11"/>
          <p:cNvSpPr txBox="1"/>
          <p:nvPr/>
        </p:nvSpPr>
        <p:spPr>
          <a:xfrm>
            <a:off x="5137760" y="2720000"/>
            <a:ext cx="3577639" cy="4900000"/>
          </a:xfrm>
          <a:prstGeom prst="rect">
            <a:avLst/>
          </a:prstGeom>
          <a:noFill/>
        </p:spPr>
        <p:txBody>
          <a:bodyPr wrap="square">
            <a:spAutoFit/>
          </a:bodyPr>
          <a:lstStyle/>
          <a:p>
            <a:pPr>
              <a:spcAft>
                <a:spcPts val="1000"/>
              </a:spcAft>
              <a:defRPr sz="1500" b="1">
                <a:solidFill>
                  <a:srgbClr val="191C21"/>
                </a:solidFill>
                <a:latin typeface="Montserrat"/>
              </a:defRPr>
            </a:pPr>
            <a:r>
              <a:t>Market Opportunity</a:t>
            </a:r>
          </a:p>
          <a:p>
            <a:pPr>
              <a:spcAft>
                <a:spcPts val="800"/>
              </a:spcAft>
            </a:pPr>
            <a:r>
              <a:rPr sz="1300" b="1">
                <a:solidFill>
                  <a:srgbClr val="191C21"/>
                </a:solidFill>
                <a:latin typeface="IBM Plex Sans"/>
              </a:rPr>
              <a:t>• TAM ($14.2B by 2030)*: </a:t>
            </a:r>
            <a:r>
              <a:rPr sz="1300">
                <a:solidFill>
                  <a:srgbClr val="2D3748"/>
                </a:solidFill>
                <a:latin typeface="IBM Plex Sans"/>
              </a:rPr>
              <a:t>Global AI Governance and Cybersecurity market. [Illustrative assumption]</a:t>
            </a:r>
          </a:p>
          <a:p>
            <a:pPr>
              <a:spcAft>
                <a:spcPts val="800"/>
              </a:spcAft>
            </a:pPr>
            <a:r>
              <a:rPr sz="1300" b="1">
                <a:solidFill>
                  <a:srgbClr val="191C21"/>
                </a:solidFill>
                <a:latin typeface="IBM Plex Sans"/>
              </a:rPr>
              <a:t>• SAM ($3.8B by 2028)*: </a:t>
            </a:r>
            <a:r>
              <a:rPr sz="1300">
                <a:solidFill>
                  <a:srgbClr val="2D3748"/>
                </a:solidFill>
                <a:latin typeface="IBM Plex Sans"/>
              </a:rPr>
              <a:t>Automated AI red-teaming and model robustness testing.</a:t>
            </a:r>
          </a:p>
          <a:p>
            <a:pPr>
              <a:spcAft>
                <a:spcPts val="800"/>
              </a:spcAft>
            </a:pPr>
            <a:r>
              <a:rPr sz="1300" b="1">
                <a:solidFill>
                  <a:srgbClr val="191C21"/>
                </a:solidFill>
                <a:latin typeface="IBM Plex Sans"/>
              </a:rPr>
              <a:t>• SOM ($480M)*: </a:t>
            </a:r>
            <a:r>
              <a:rPr sz="1300">
                <a:solidFill>
                  <a:srgbClr val="2D3748"/>
                </a:solidFill>
                <a:latin typeface="IBM Plex Sans"/>
              </a:rPr>
              <a:t>Hardware-isolated multi-tenant AI verification infrastructure.</a:t>
            </a:r>
          </a:p>
          <a:p>
            <a:pPr>
              <a:spcAft>
                <a:spcPts val="800"/>
              </a:spcAft>
            </a:pPr>
            <a:r>
              <a:rPr sz="1300" b="1">
                <a:solidFill>
                  <a:srgbClr val="191C21"/>
                </a:solidFill>
                <a:latin typeface="IBM Plex Sans"/>
              </a:rPr>
              <a:t>• Macro Catalyst: </a:t>
            </a:r>
            <a:r>
              <a:rPr sz="1300">
                <a:solidFill>
                  <a:srgbClr val="2D3748"/>
                </a:solidFill>
                <a:latin typeface="IBM Plex Sans"/>
              </a:rPr>
              <a:t>Mandatory compliance audits replace voluntary corporate self-reporting.</a:t>
            </a:r>
          </a:p>
        </p:txBody>
      </p:sp>
      <p:sp>
        <p:nvSpPr>
          <p:cNvPr id="13" name="Rounded Rectangle 12"/>
          <p:cNvSpPr/>
          <p:nvPr/>
        </p:nvSpPr>
        <p:spPr>
          <a:xfrm>
            <a:off x="5137760" y="7750000"/>
            <a:ext cx="3577639" cy="1050000"/>
          </a:xfrm>
          <a:prstGeom prst="roundRect">
            <a:avLst/>
          </a:prstGeom>
          <a:solidFill>
            <a:srgbClr val="FFFFFF"/>
          </a:solidFill>
          <a:ln w="15875">
            <a:solidFill>
              <a:srgbClr val="1B6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87760" y="7800000"/>
            <a:ext cx="3477639" cy="950000"/>
          </a:xfrm>
          <a:prstGeom prst="rect">
            <a:avLst/>
          </a:prstGeom>
          <a:noFill/>
        </p:spPr>
        <p:txBody>
          <a:bodyPr wrap="square">
            <a:spAutoFit/>
          </a:bodyPr>
          <a:lstStyle/>
          <a:p>
            <a:pPr>
              <a:spcAft>
                <a:spcPts val="200"/>
              </a:spcAft>
              <a:defRPr sz="950" b="1">
                <a:solidFill>
                  <a:srgbClr val="1B663E"/>
                </a:solidFill>
                <a:latin typeface="Montserrat"/>
              </a:defRPr>
            </a:pPr>
            <a:r>
              <a:t>📈 GROWTH DRIVER</a:t>
            </a:r>
          </a:p>
          <a:p>
            <a:pPr>
              <a:defRPr sz="1200" b="1">
                <a:solidFill>
                  <a:srgbClr val="191C21"/>
                </a:solidFill>
                <a:latin typeface="IBM Plex Sans"/>
              </a:defRPr>
            </a:pPr>
            <a:r>
              <a:t>36.8% CAGR driven by global AI safety mandates.*</a:t>
            </a:r>
          </a:p>
        </p:txBody>
      </p:sp>
      <p:sp>
        <p:nvSpPr>
          <p:cNvPr id="15" name="Rounded Rectangle 14"/>
          <p:cNvSpPr/>
          <p:nvPr/>
        </p:nvSpPr>
        <p:spPr>
          <a:xfrm>
            <a:off x="9144000" y="2200000"/>
            <a:ext cx="3977639" cy="6750000"/>
          </a:xfrm>
          <a:prstGeom prst="roundRect">
            <a:avLst/>
          </a:prstGeom>
          <a:solidFill>
            <a:srgbClr val="F9FBFD"/>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344000" y="2360000"/>
            <a:ext cx="2400000" cy="280000"/>
          </a:xfrm>
          <a:prstGeom prst="roundRect">
            <a:avLst/>
          </a:prstGeom>
          <a:solidFill>
            <a:srgbClr val="5A457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Montserrat"/>
              </a:defRPr>
            </a:pPr>
            <a:r>
              <a:t>COMMERCIALIZATION</a:t>
            </a:r>
          </a:p>
        </p:txBody>
      </p:sp>
      <p:sp>
        <p:nvSpPr>
          <p:cNvPr id="17" name="TextBox 16"/>
          <p:cNvSpPr txBox="1"/>
          <p:nvPr/>
        </p:nvSpPr>
        <p:spPr>
          <a:xfrm>
            <a:off x="9344000" y="2720000"/>
            <a:ext cx="3577639" cy="4900000"/>
          </a:xfrm>
          <a:prstGeom prst="rect">
            <a:avLst/>
          </a:prstGeom>
          <a:noFill/>
        </p:spPr>
        <p:txBody>
          <a:bodyPr wrap="square">
            <a:spAutoFit/>
          </a:bodyPr>
          <a:lstStyle/>
          <a:p>
            <a:pPr>
              <a:spcAft>
                <a:spcPts val="1000"/>
              </a:spcAft>
              <a:defRPr sz="1500" b="1">
                <a:solidFill>
                  <a:srgbClr val="191C21"/>
                </a:solidFill>
                <a:latin typeface="Montserrat"/>
              </a:defRPr>
            </a:pPr>
            <a:r>
              <a:t>Business Model</a:t>
            </a:r>
          </a:p>
          <a:p>
            <a:pPr>
              <a:spcAft>
                <a:spcPts val="800"/>
              </a:spcAft>
            </a:pPr>
            <a:r>
              <a:rPr sz="1300" b="1">
                <a:solidFill>
                  <a:srgbClr val="191C21"/>
                </a:solidFill>
                <a:latin typeface="IBM Plex Sans"/>
              </a:rPr>
              <a:t>• Cloud SaaS Tier: </a:t>
            </a:r>
            <a:r>
              <a:rPr sz="1300">
                <a:solidFill>
                  <a:srgbClr val="2D3748"/>
                </a:solidFill>
                <a:latin typeface="IBM Plex Sans"/>
              </a:rPr>
              <a:t>Usage-based pricing per red-team session ($0.85/turn illustrative).</a:t>
            </a:r>
          </a:p>
          <a:p>
            <a:pPr>
              <a:spcAft>
                <a:spcPts val="800"/>
              </a:spcAft>
            </a:pPr>
            <a:r>
              <a:rPr sz="1300" b="1">
                <a:solidFill>
                  <a:srgbClr val="191C21"/>
                </a:solidFill>
                <a:latin typeface="IBM Plex Sans"/>
              </a:rPr>
              <a:t>• Enterprise Appliance: </a:t>
            </a:r>
            <a:r>
              <a:rPr sz="1300">
                <a:solidFill>
                  <a:srgbClr val="2D3748"/>
                </a:solidFill>
                <a:latin typeface="IBM Plex Sans"/>
              </a:rPr>
              <a:t>Annual license for air-gapped on-premise clusters ($120k/yr illustrative).</a:t>
            </a:r>
          </a:p>
          <a:p>
            <a:pPr>
              <a:spcAft>
                <a:spcPts val="800"/>
              </a:spcAft>
            </a:pPr>
            <a:r>
              <a:rPr sz="1300" b="1">
                <a:solidFill>
                  <a:srgbClr val="191C21"/>
                </a:solidFill>
                <a:latin typeface="IBM Plex Sans"/>
              </a:rPr>
              <a:t>• Audit Provenance Seals: </a:t>
            </a:r>
            <a:r>
              <a:rPr sz="1300">
                <a:solidFill>
                  <a:srgbClr val="2D3748"/>
                </a:solidFill>
                <a:latin typeface="IBM Plex Sans"/>
              </a:rPr>
              <a:t>Tamper-evident Merkle certification badges for regulatory filings.</a:t>
            </a:r>
          </a:p>
          <a:p>
            <a:pPr>
              <a:spcAft>
                <a:spcPts val="800"/>
              </a:spcAft>
            </a:pPr>
            <a:r>
              <a:rPr sz="1300" b="1">
                <a:solidFill>
                  <a:srgbClr val="191C21"/>
                </a:solidFill>
                <a:latin typeface="IBM Plex Sans"/>
              </a:rPr>
              <a:t>• Benchmark Access: </a:t>
            </a:r>
            <a:r>
              <a:rPr sz="1300">
                <a:solidFill>
                  <a:srgbClr val="2D3748"/>
                </a:solidFill>
                <a:latin typeface="IBM Plex Sans"/>
              </a:rPr>
              <a:t>Curated safety benchmark suites and adversarial prompt packs.</a:t>
            </a:r>
          </a:p>
        </p:txBody>
      </p:sp>
      <p:sp>
        <p:nvSpPr>
          <p:cNvPr id="18" name="Rounded Rectangle 17"/>
          <p:cNvSpPr/>
          <p:nvPr/>
        </p:nvSpPr>
        <p:spPr>
          <a:xfrm>
            <a:off x="9344000" y="7750000"/>
            <a:ext cx="3577639" cy="1050000"/>
          </a:xfrm>
          <a:prstGeom prst="roundRect">
            <a:avLst/>
          </a:prstGeom>
          <a:solidFill>
            <a:srgbClr val="FFFFFF"/>
          </a:solidFill>
          <a:ln w="15875">
            <a:solidFill>
              <a:srgbClr val="5A45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94000" y="7800000"/>
            <a:ext cx="3477639" cy="950000"/>
          </a:xfrm>
          <a:prstGeom prst="rect">
            <a:avLst/>
          </a:prstGeom>
          <a:noFill/>
        </p:spPr>
        <p:txBody>
          <a:bodyPr wrap="square">
            <a:spAutoFit/>
          </a:bodyPr>
          <a:lstStyle/>
          <a:p>
            <a:pPr>
              <a:spcAft>
                <a:spcPts val="200"/>
              </a:spcAft>
              <a:defRPr sz="950" b="1">
                <a:solidFill>
                  <a:srgbClr val="5A4574"/>
                </a:solidFill>
                <a:latin typeface="Montserrat"/>
              </a:defRPr>
            </a:pPr>
            <a:r>
              <a:t>💰 HIGH ACV</a:t>
            </a:r>
          </a:p>
          <a:p>
            <a:pPr>
              <a:defRPr sz="1200" b="1">
                <a:solidFill>
                  <a:srgbClr val="191C21"/>
                </a:solidFill>
                <a:latin typeface="IBM Plex Sans"/>
              </a:defRPr>
            </a:pPr>
            <a:r>
              <a:t>Enterprise air-gapped appliances deliver strong annual contract value.</a:t>
            </a:r>
          </a:p>
        </p:txBody>
      </p:sp>
      <p:sp>
        <p:nvSpPr>
          <p:cNvPr id="20" name="Rounded Rectangle 19"/>
          <p:cNvSpPr/>
          <p:nvPr/>
        </p:nvSpPr>
        <p:spPr>
          <a:xfrm>
            <a:off x="13350240" y="2200000"/>
            <a:ext cx="3977639" cy="6750000"/>
          </a:xfrm>
          <a:prstGeom prst="roundRect">
            <a:avLst/>
          </a:prstGeom>
          <a:solidFill>
            <a:srgbClr val="F9FBFD"/>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3550240" y="2360000"/>
            <a:ext cx="2400000" cy="28000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Montserrat"/>
              </a:defRPr>
            </a:pPr>
            <a:r>
              <a:t>COMPLIANCE CATALYSTS</a:t>
            </a:r>
          </a:p>
        </p:txBody>
      </p:sp>
      <p:sp>
        <p:nvSpPr>
          <p:cNvPr id="22" name="TextBox 21"/>
          <p:cNvSpPr txBox="1"/>
          <p:nvPr/>
        </p:nvSpPr>
        <p:spPr>
          <a:xfrm>
            <a:off x="13550240" y="2720000"/>
            <a:ext cx="3577639" cy="4900000"/>
          </a:xfrm>
          <a:prstGeom prst="rect">
            <a:avLst/>
          </a:prstGeom>
          <a:noFill/>
        </p:spPr>
        <p:txBody>
          <a:bodyPr wrap="square">
            <a:spAutoFit/>
          </a:bodyPr>
          <a:lstStyle/>
          <a:p>
            <a:pPr>
              <a:spcAft>
                <a:spcPts val="1000"/>
              </a:spcAft>
              <a:defRPr sz="1500" b="1">
                <a:solidFill>
                  <a:srgbClr val="191C21"/>
                </a:solidFill>
                <a:latin typeface="Montserrat"/>
              </a:defRPr>
            </a:pPr>
            <a:r>
              <a:t>Regulatory Drivers</a:t>
            </a:r>
          </a:p>
          <a:p>
            <a:pPr>
              <a:spcAft>
                <a:spcPts val="800"/>
              </a:spcAft>
            </a:pPr>
            <a:r>
              <a:rPr sz="1300" b="1">
                <a:solidFill>
                  <a:srgbClr val="191C21"/>
                </a:solidFill>
                <a:latin typeface="IBM Plex Sans"/>
              </a:rPr>
              <a:t>• EU AI Act: </a:t>
            </a:r>
            <a:r>
              <a:rPr sz="1300">
                <a:solidFill>
                  <a:srgbClr val="2D3748"/>
                </a:solidFill>
                <a:latin typeface="IBM Plex Sans"/>
              </a:rPr>
              <a:t>Mandates adversarial testing &amp; tamper-evident audit trails for GPAI.</a:t>
            </a:r>
          </a:p>
          <a:p>
            <a:pPr>
              <a:spcAft>
                <a:spcPts val="800"/>
              </a:spcAft>
            </a:pPr>
            <a:r>
              <a:rPr sz="1300" b="1">
                <a:solidFill>
                  <a:srgbClr val="191C21"/>
                </a:solidFill>
                <a:latin typeface="IBM Plex Sans"/>
              </a:rPr>
              <a:t>• NIST AI RMF: </a:t>
            </a:r>
            <a:r>
              <a:rPr sz="1300">
                <a:solidFill>
                  <a:srgbClr val="2D3748"/>
                </a:solidFill>
                <a:latin typeface="IBM Plex Sans"/>
              </a:rPr>
              <a:t>Aligns with US NIST SP 800-218A evaluation guidelines.</a:t>
            </a:r>
          </a:p>
          <a:p>
            <a:pPr>
              <a:spcAft>
                <a:spcPts val="800"/>
              </a:spcAft>
            </a:pPr>
            <a:r>
              <a:rPr sz="1300" b="1">
                <a:solidFill>
                  <a:srgbClr val="191C21"/>
                </a:solidFill>
                <a:latin typeface="IBM Plex Sans"/>
              </a:rPr>
              <a:t>• Clear Differentiation: </a:t>
            </a:r>
            <a:r>
              <a:rPr sz="1300">
                <a:solidFill>
                  <a:srgbClr val="2D3748"/>
                </a:solidFill>
                <a:latin typeface="IBM Plex Sans"/>
              </a:rPr>
              <a:t>Uniquely pairs runtime isolation with cryptographic WORM auditability.</a:t>
            </a:r>
          </a:p>
          <a:p>
            <a:pPr>
              <a:spcAft>
                <a:spcPts val="800"/>
              </a:spcAft>
            </a:pPr>
            <a:r>
              <a:rPr sz="1300" b="1">
                <a:solidFill>
                  <a:srgbClr val="191C21"/>
                </a:solidFill>
                <a:latin typeface="IBM Plex Sans"/>
              </a:rPr>
              <a:t>• High Switching Moat: </a:t>
            </a:r>
            <a:r>
              <a:rPr sz="1300">
                <a:solidFill>
                  <a:srgbClr val="2D3748"/>
                </a:solidFill>
                <a:latin typeface="IBM Plex Sans"/>
              </a:rPr>
              <a:t>Enforced state machines prevent vendor evaluation lock-in.</a:t>
            </a:r>
          </a:p>
        </p:txBody>
      </p:sp>
      <p:sp>
        <p:nvSpPr>
          <p:cNvPr id="23" name="Rounded Rectangle 22"/>
          <p:cNvSpPr/>
          <p:nvPr/>
        </p:nvSpPr>
        <p:spPr>
          <a:xfrm>
            <a:off x="13550240" y="7750000"/>
            <a:ext cx="3577639" cy="1050000"/>
          </a:xfrm>
          <a:prstGeom prst="roundRect">
            <a:avLst/>
          </a:prstGeom>
          <a:solidFill>
            <a:srgbClr val="FFFFFF"/>
          </a:solidFill>
          <a:ln w="15875">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600240" y="7800000"/>
            <a:ext cx="3477639" cy="950000"/>
          </a:xfrm>
          <a:prstGeom prst="rect">
            <a:avLst/>
          </a:prstGeom>
          <a:noFill/>
        </p:spPr>
        <p:txBody>
          <a:bodyPr wrap="square">
            <a:spAutoFit/>
          </a:bodyPr>
          <a:lstStyle/>
          <a:p>
            <a:pPr>
              <a:spcAft>
                <a:spcPts val="200"/>
              </a:spcAft>
              <a:defRPr sz="950" b="1">
                <a:solidFill>
                  <a:srgbClr val="B45309"/>
                </a:solidFill>
                <a:latin typeface="Montserrat"/>
              </a:defRPr>
            </a:pPr>
            <a:r>
              <a:t>🛡️ DEFENSIBILITY</a:t>
            </a:r>
          </a:p>
          <a:p>
            <a:pPr>
              <a:defRPr sz="1200" b="1">
                <a:solidFill>
                  <a:srgbClr val="191C21"/>
                </a:solidFill>
                <a:latin typeface="IBM Plex Sans"/>
              </a:defRPr>
            </a:pPr>
            <a:r>
              <a:t>Architectural state-machine enforcement creates a defensible technology moat.</a:t>
            </a:r>
          </a:p>
        </p:txBody>
      </p:sp>
      <p:sp>
        <p:nvSpPr>
          <p:cNvPr id="25" name="TextBox 24"/>
          <p:cNvSpPr txBox="1"/>
          <p:nvPr/>
        </p:nvSpPr>
        <p:spPr>
          <a:xfrm>
            <a:off x="731520" y="9100000"/>
            <a:ext cx="16824960" cy="350000"/>
          </a:xfrm>
          <a:prstGeom prst="rect">
            <a:avLst/>
          </a:prstGeom>
          <a:noFill/>
        </p:spPr>
        <p:txBody>
          <a:bodyPr wrap="none">
            <a:spAutoFit/>
          </a:bodyPr>
          <a:lstStyle/>
          <a:p>
            <a:pPr>
              <a:defRPr sz="1000" i="1">
                <a:solidFill>
                  <a:srgbClr val="565D6C"/>
                </a:solidFill>
                <a:latin typeface="IBM Plex Sans"/>
              </a:defRPr>
            </a:pPr>
            <a:r>
              <a:t>*Market figures and pricing tiers are illustrative assumptions [PENDING MARKET SOURCE VERIFICATION]. Regulatory references: EU AI Act obligations for general-purpose AI models [VERIFY ARTICLE REFERENCES AND DATES].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2" name="Picture 1" descr="image.png"/>
          <p:cNvPicPr>
            <a:picLocks noChangeAspect="1"/>
          </p:cNvPicPr>
          <p:nvPr/>
        </p:nvPicPr>
        <p:blipFill>
          <a:blip r:embed="rId6"/>
          <a:stretch>
            <a:fillRect/>
          </a:stretch>
        </p:blipFill>
        <p:spPr>
          <a:xfrm>
            <a:off x="0" y="0"/>
            <a:ext cx="18288000" cy="1205517"/>
          </a:xfrm>
          <a:prstGeom prst="rect">
            <a:avLst/>
          </a:prstGeom>
        </p:spPr>
      </p:pic>
      <p:sp>
        <p:nvSpPr>
          <p:cNvPr id="3" name="TextBox 2"/>
          <p:cNvSpPr txBox="1"/>
          <p:nvPr/>
        </p:nvSpPr>
        <p:spPr>
          <a:xfrm>
            <a:off x="731520" y="1220000"/>
            <a:ext cx="16824960" cy="450000"/>
          </a:xfrm>
          <a:prstGeom prst="rect">
            <a:avLst/>
          </a:prstGeom>
          <a:noFill/>
        </p:spPr>
        <p:txBody>
          <a:bodyPr wrap="square" lIns="0" tIns="0" rIns="0" bIns="0">
            <a:spAutoFit/>
          </a:bodyPr>
          <a:lstStyle/>
          <a:p>
            <a:pPr>
              <a:defRPr sz="2400" b="1">
                <a:solidFill>
                  <a:srgbClr val="191C21"/>
                </a:solidFill>
                <a:latin typeface="Montserrat"/>
              </a:defRPr>
            </a:pPr>
            <a:r>
              <a:t>FUTURE SCOPE &amp; LIMITATIONS</a:t>
            </a:r>
          </a:p>
        </p:txBody>
      </p:sp>
      <p:sp>
        <p:nvSpPr>
          <p:cNvPr id="4" name="TextBox 3"/>
          <p:cNvSpPr txBox="1"/>
          <p:nvPr/>
        </p:nvSpPr>
        <p:spPr>
          <a:xfrm>
            <a:off x="731520" y="1700000"/>
            <a:ext cx="16824960" cy="380000"/>
          </a:xfrm>
          <a:prstGeom prst="rect">
            <a:avLst/>
          </a:prstGeom>
          <a:noFill/>
        </p:spPr>
        <p:txBody>
          <a:bodyPr wrap="square" lIns="0" tIns="0" rIns="0" bIns="0">
            <a:spAutoFit/>
          </a:bodyPr>
          <a:lstStyle/>
          <a:p>
            <a:pPr>
              <a:defRPr sz="1250" b="1">
                <a:solidFill>
                  <a:srgbClr val="565D6C"/>
                </a:solidFill>
                <a:latin typeface="Montserrat"/>
              </a:defRPr>
            </a:pPr>
            <a:r>
              <a:t>Product Roadmap, Technical Milestones &amp; Known PoC Limitations</a:t>
            </a:r>
          </a:p>
        </p:txBody>
      </p:sp>
      <p:sp>
        <p:nvSpPr>
          <p:cNvPr id="5" name="Rounded Rectangle 4"/>
          <p:cNvSpPr/>
          <p:nvPr/>
        </p:nvSpPr>
        <p:spPr>
          <a:xfrm>
            <a:off x="731520" y="2200000"/>
            <a:ext cx="16824960" cy="2500000"/>
          </a:xfrm>
          <a:prstGeom prst="roundRect">
            <a:avLst/>
          </a:prstGeom>
          <a:solidFill>
            <a:srgbClr val="FFFFFF"/>
          </a:solidFill>
          <a:ln w="15875">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50000" y="2320000"/>
            <a:ext cx="5500000" cy="280000"/>
          </a:xfrm>
          <a:prstGeom prst="roundRect">
            <a:avLst/>
          </a:prstGeom>
          <a:solidFill>
            <a:srgbClr val="1F3A6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Montserrat"/>
              </a:defRPr>
            </a:pPr>
            <a:r>
              <a:t>LONG-TERM PRODUCT ROADMAP &amp; MILESTONES</a:t>
            </a:r>
          </a:p>
        </p:txBody>
      </p:sp>
      <p:sp>
        <p:nvSpPr>
          <p:cNvPr id="7" name="Rounded Rectangle 6"/>
          <p:cNvSpPr/>
          <p:nvPr/>
        </p:nvSpPr>
        <p:spPr>
          <a:xfrm>
            <a:off x="950000" y="2750000"/>
            <a:ext cx="3750000" cy="1700000"/>
          </a:xfrm>
          <a:prstGeom prst="roundRect">
            <a:avLst/>
          </a:prstGeom>
          <a:solidFill>
            <a:srgbClr val="EEF4FC"/>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70000" y="2870000"/>
            <a:ext cx="3510000" cy="260000"/>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00" b="1">
                <a:solidFill>
                  <a:srgbClr val="FFFFFF"/>
                </a:solidFill>
                <a:latin typeface="Montserrat"/>
              </a:defRPr>
            </a:pPr>
            <a:r>
              <a:t>PHASE 1 (Q1-Q2 2027)</a:t>
            </a:r>
          </a:p>
        </p:txBody>
      </p:sp>
      <p:sp>
        <p:nvSpPr>
          <p:cNvPr id="9" name="TextBox 8"/>
          <p:cNvSpPr txBox="1"/>
          <p:nvPr/>
        </p:nvSpPr>
        <p:spPr>
          <a:xfrm>
            <a:off x="1070000" y="3200000"/>
            <a:ext cx="3510000" cy="1200000"/>
          </a:xfrm>
          <a:prstGeom prst="rect">
            <a:avLst/>
          </a:prstGeom>
          <a:noFill/>
        </p:spPr>
        <p:txBody>
          <a:bodyPr wrap="square">
            <a:spAutoFit/>
          </a:bodyPr>
          <a:lstStyle/>
          <a:p>
            <a:pPr>
              <a:spcAft>
                <a:spcPts val="200"/>
              </a:spcAft>
              <a:defRPr sz="1100" b="1">
                <a:solidFill>
                  <a:srgbClr val="191C21"/>
                </a:solidFill>
                <a:latin typeface="Montserrat"/>
              </a:defRPr>
            </a:pPr>
            <a:r>
              <a:t>Confidential Computing (TEE)</a:t>
            </a:r>
          </a:p>
          <a:p>
            <a:pPr>
              <a:spcAft>
                <a:spcPts val="400"/>
              </a:spcAft>
              <a:defRPr sz="1000">
                <a:solidFill>
                  <a:srgbClr val="2D3748"/>
                </a:solidFill>
                <a:latin typeface="IBM Plex Sans"/>
              </a:defRPr>
            </a:pPr>
            <a:r>
              <a:t>Intel TDX &amp; AMD SEV-SNP enclaves</a:t>
            </a:r>
          </a:p>
          <a:p>
            <a:pPr>
              <a:defRPr sz="950" b="1">
                <a:solidFill>
                  <a:srgbClr val="0066CC"/>
                </a:solidFill>
                <a:latin typeface="IBM Plex Sans"/>
              </a:defRPr>
            </a:pPr>
            <a:r>
              <a:t>📌 Hardware TEE attestation</a:t>
            </a:r>
          </a:p>
        </p:txBody>
      </p:sp>
      <p:sp>
        <p:nvSpPr>
          <p:cNvPr id="10" name="Right Arrow 9"/>
          <p:cNvSpPr/>
          <p:nvPr/>
        </p:nvSpPr>
        <p:spPr>
          <a:xfrm>
            <a:off x="4770000" y="3400000"/>
            <a:ext cx="280000" cy="220000"/>
          </a:xfrm>
          <a:prstGeom prst="rightArrow">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20000" y="2750000"/>
            <a:ext cx="3750000" cy="1700000"/>
          </a:xfrm>
          <a:prstGeom prst="roundRect">
            <a:avLst/>
          </a:prstGeom>
          <a:solidFill>
            <a:srgbClr val="EEF4FC"/>
          </a:solidFill>
          <a:ln w="19050">
            <a:solidFill>
              <a:srgbClr val="5A45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240000" y="2870000"/>
            <a:ext cx="3510000" cy="260000"/>
          </a:xfrm>
          <a:prstGeom prst="roundRect">
            <a:avLst/>
          </a:prstGeom>
          <a:solidFill>
            <a:srgbClr val="5A457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00" b="1">
                <a:solidFill>
                  <a:srgbClr val="FFFFFF"/>
                </a:solidFill>
                <a:latin typeface="Montserrat"/>
              </a:defRPr>
            </a:pPr>
            <a:r>
              <a:t>PHASE 2 (Q2-Q3 2027)</a:t>
            </a:r>
          </a:p>
        </p:txBody>
      </p:sp>
      <p:sp>
        <p:nvSpPr>
          <p:cNvPr id="13" name="TextBox 12"/>
          <p:cNvSpPr txBox="1"/>
          <p:nvPr/>
        </p:nvSpPr>
        <p:spPr>
          <a:xfrm>
            <a:off x="5240000" y="3200000"/>
            <a:ext cx="3510000" cy="1200000"/>
          </a:xfrm>
          <a:prstGeom prst="rect">
            <a:avLst/>
          </a:prstGeom>
          <a:noFill/>
        </p:spPr>
        <p:txBody>
          <a:bodyPr wrap="square">
            <a:spAutoFit/>
          </a:bodyPr>
          <a:lstStyle/>
          <a:p>
            <a:pPr>
              <a:spcAft>
                <a:spcPts val="200"/>
              </a:spcAft>
              <a:defRPr sz="1100" b="1">
                <a:solidFill>
                  <a:srgbClr val="191C21"/>
                </a:solidFill>
                <a:latin typeface="Montserrat"/>
              </a:defRPr>
            </a:pPr>
            <a:r>
              <a:t>Autonomous Red-Team Swarms</a:t>
            </a:r>
          </a:p>
          <a:p>
            <a:pPr>
              <a:spcAft>
                <a:spcPts val="400"/>
              </a:spcAft>
              <a:defRPr sz="1000">
                <a:solidFill>
                  <a:srgbClr val="2D3748"/>
                </a:solidFill>
                <a:latin typeface="IBM Plex Sans"/>
              </a:defRPr>
            </a:pPr>
            <a:r>
              <a:t>PAIR &amp; TAP automated jailbreak agents</a:t>
            </a:r>
          </a:p>
          <a:p>
            <a:pPr>
              <a:defRPr sz="950" b="1">
                <a:solidFill>
                  <a:srgbClr val="5A4574"/>
                </a:solidFill>
                <a:latin typeface="IBM Plex Sans"/>
              </a:defRPr>
            </a:pPr>
            <a:r>
              <a:t>📌 Multi-turn self-play</a:t>
            </a:r>
          </a:p>
        </p:txBody>
      </p:sp>
      <p:sp>
        <p:nvSpPr>
          <p:cNvPr id="14" name="Right Arrow 13"/>
          <p:cNvSpPr/>
          <p:nvPr/>
        </p:nvSpPr>
        <p:spPr>
          <a:xfrm>
            <a:off x="8940000" y="3400000"/>
            <a:ext cx="280000" cy="220000"/>
          </a:xfrm>
          <a:prstGeom prst="rightArrow">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290000" y="2750000"/>
            <a:ext cx="3750000" cy="1700000"/>
          </a:xfrm>
          <a:prstGeom prst="roundRect">
            <a:avLst/>
          </a:prstGeom>
          <a:solidFill>
            <a:srgbClr val="EEF4FC"/>
          </a:solidFill>
          <a:ln w="19050">
            <a:solidFill>
              <a:srgbClr val="1B6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410000" y="2870000"/>
            <a:ext cx="3510000" cy="260000"/>
          </a:xfrm>
          <a:prstGeom prst="roundRect">
            <a:avLst/>
          </a:prstGeom>
          <a:solidFill>
            <a:srgbClr val="1B663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00" b="1">
                <a:solidFill>
                  <a:srgbClr val="FFFFFF"/>
                </a:solidFill>
                <a:latin typeface="Montserrat"/>
              </a:defRPr>
            </a:pPr>
            <a:r>
              <a:t>PHASE 3 (Q3-Q4 2027)</a:t>
            </a:r>
          </a:p>
        </p:txBody>
      </p:sp>
      <p:sp>
        <p:nvSpPr>
          <p:cNvPr id="17" name="TextBox 16"/>
          <p:cNvSpPr txBox="1"/>
          <p:nvPr/>
        </p:nvSpPr>
        <p:spPr>
          <a:xfrm>
            <a:off x="9410000" y="3200000"/>
            <a:ext cx="3510000" cy="1200000"/>
          </a:xfrm>
          <a:prstGeom prst="rect">
            <a:avLst/>
          </a:prstGeom>
          <a:noFill/>
        </p:spPr>
        <p:txBody>
          <a:bodyPr wrap="square">
            <a:spAutoFit/>
          </a:bodyPr>
          <a:lstStyle/>
          <a:p>
            <a:pPr>
              <a:spcAft>
                <a:spcPts val="200"/>
              </a:spcAft>
              <a:defRPr sz="1100" b="1">
                <a:solidFill>
                  <a:srgbClr val="191C21"/>
                </a:solidFill>
                <a:latin typeface="Montserrat"/>
              </a:defRPr>
            </a:pPr>
            <a:r>
              <a:t>Enterprise CI/CD Integrations</a:t>
            </a:r>
          </a:p>
          <a:p>
            <a:pPr>
              <a:spcAft>
                <a:spcPts val="400"/>
              </a:spcAft>
              <a:defRPr sz="1000">
                <a:solidFill>
                  <a:srgbClr val="2D3748"/>
                </a:solidFill>
                <a:latin typeface="IBM Plex Sans"/>
              </a:defRPr>
            </a:pPr>
            <a:r>
              <a:t>Kubernetes Operator &amp; GitHub Actions</a:t>
            </a:r>
          </a:p>
          <a:p>
            <a:pPr>
              <a:defRPr sz="950" b="1">
                <a:solidFill>
                  <a:srgbClr val="1B663E"/>
                </a:solidFill>
                <a:latin typeface="IBM Plex Sans"/>
              </a:defRPr>
            </a:pPr>
            <a:r>
              <a:t>📌 Automated PR safety gate</a:t>
            </a:r>
          </a:p>
        </p:txBody>
      </p:sp>
      <p:sp>
        <p:nvSpPr>
          <p:cNvPr id="18" name="Right Arrow 17"/>
          <p:cNvSpPr/>
          <p:nvPr/>
        </p:nvSpPr>
        <p:spPr>
          <a:xfrm>
            <a:off x="13110000" y="3400000"/>
            <a:ext cx="280000" cy="220000"/>
          </a:xfrm>
          <a:prstGeom prst="rightArrow">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3460000" y="2750000"/>
            <a:ext cx="3750000" cy="1700000"/>
          </a:xfrm>
          <a:prstGeom prst="roundRect">
            <a:avLst/>
          </a:prstGeom>
          <a:solidFill>
            <a:srgbClr val="EEF4FC"/>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580000" y="2870000"/>
            <a:ext cx="3510000" cy="26000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00" b="1">
                <a:solidFill>
                  <a:srgbClr val="FFFFFF"/>
                </a:solidFill>
                <a:latin typeface="Montserrat"/>
              </a:defRPr>
            </a:pPr>
            <a:r>
              <a:t>PHASE 4 (2028+)</a:t>
            </a:r>
          </a:p>
        </p:txBody>
      </p:sp>
      <p:sp>
        <p:nvSpPr>
          <p:cNvPr id="21" name="TextBox 20"/>
          <p:cNvSpPr txBox="1"/>
          <p:nvPr/>
        </p:nvSpPr>
        <p:spPr>
          <a:xfrm>
            <a:off x="13580000" y="3200000"/>
            <a:ext cx="3510000" cy="1200000"/>
          </a:xfrm>
          <a:prstGeom prst="rect">
            <a:avLst/>
          </a:prstGeom>
          <a:noFill/>
        </p:spPr>
        <p:txBody>
          <a:bodyPr wrap="square">
            <a:spAutoFit/>
          </a:bodyPr>
          <a:lstStyle/>
          <a:p>
            <a:pPr>
              <a:spcAft>
                <a:spcPts val="200"/>
              </a:spcAft>
              <a:defRPr sz="1100" b="1">
                <a:solidFill>
                  <a:srgbClr val="191C21"/>
                </a:solidFill>
                <a:latin typeface="Montserrat"/>
              </a:defRPr>
            </a:pPr>
            <a:r>
              <a:t>Decentralized Provenance Mesh</a:t>
            </a:r>
          </a:p>
          <a:p>
            <a:pPr>
              <a:spcAft>
                <a:spcPts val="400"/>
              </a:spcAft>
              <a:defRPr sz="1000">
                <a:solidFill>
                  <a:srgbClr val="2D3748"/>
                </a:solidFill>
                <a:latin typeface="IBM Plex Sans"/>
              </a:defRPr>
            </a:pPr>
            <a:r>
              <a:t>Sigstore/Rekor &amp; Ethereum L2 federation</a:t>
            </a:r>
          </a:p>
          <a:p>
            <a:pPr>
              <a:defRPr sz="950" b="1">
                <a:solidFill>
                  <a:srgbClr val="B45309"/>
                </a:solidFill>
                <a:latin typeface="IBM Plex Sans"/>
              </a:defRPr>
            </a:pPr>
            <a:r>
              <a:t>📌 Global multi-region sync</a:t>
            </a:r>
          </a:p>
        </p:txBody>
      </p:sp>
      <p:sp>
        <p:nvSpPr>
          <p:cNvPr id="22" name="Rounded Rectangle 21"/>
          <p:cNvSpPr/>
          <p:nvPr/>
        </p:nvSpPr>
        <p:spPr>
          <a:xfrm>
            <a:off x="731520" y="4900000"/>
            <a:ext cx="8200000" cy="4400000"/>
          </a:xfrm>
          <a:prstGeom prst="roundRect">
            <a:avLst/>
          </a:prstGeom>
          <a:solidFill>
            <a:srgbClr val="FFFFFF"/>
          </a:solidFill>
          <a:ln w="19050">
            <a:solidFill>
              <a:srgbClr val="A4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50000" y="5080000"/>
            <a:ext cx="3600000" cy="280000"/>
          </a:xfrm>
          <a:prstGeom prst="roundRect">
            <a:avLst/>
          </a:prstGeom>
          <a:solidFill>
            <a:srgbClr val="A4232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Montserrat"/>
              </a:defRPr>
            </a:pPr>
            <a:r>
              <a:t>CURRENT POC LIMITATIONS</a:t>
            </a:r>
          </a:p>
        </p:txBody>
      </p:sp>
      <p:sp>
        <p:nvSpPr>
          <p:cNvPr id="24" name="TextBox 23"/>
          <p:cNvSpPr txBox="1"/>
          <p:nvPr/>
        </p:nvSpPr>
        <p:spPr>
          <a:xfrm>
            <a:off x="950000" y="5450000"/>
            <a:ext cx="7760000" cy="2700000"/>
          </a:xfrm>
          <a:prstGeom prst="rect">
            <a:avLst/>
          </a:prstGeom>
          <a:noFill/>
        </p:spPr>
        <p:txBody>
          <a:bodyPr wrap="square">
            <a:spAutoFit/>
          </a:bodyPr>
          <a:lstStyle/>
          <a:p>
            <a:pPr>
              <a:spcAft>
                <a:spcPts val="800"/>
              </a:spcAft>
            </a:pPr>
            <a:r>
              <a:rPr sz="1400" b="1">
                <a:solidFill>
                  <a:srgbClr val="191C21"/>
                </a:solidFill>
                <a:latin typeface="IBM Plex Sans"/>
              </a:rPr>
              <a:t>• MicroVM Boundary: </a:t>
            </a:r>
            <a:r>
              <a:rPr sz="1400">
                <a:solidFill>
                  <a:srgbClr val="2D3748"/>
                </a:solidFill>
                <a:latin typeface="IBM Plex Sans"/>
              </a:rPr>
              <a:t>PoC uses Node.js worker_threads; production requires Linux Kata microVMs.</a:t>
            </a:r>
          </a:p>
          <a:p>
            <a:pPr>
              <a:spcAft>
                <a:spcPts val="800"/>
              </a:spcAft>
            </a:pPr>
            <a:r>
              <a:rPr sz="1400" b="1">
                <a:solidFill>
                  <a:srgbClr val="191C21"/>
                </a:solidFill>
                <a:latin typeface="IBM Plex Sans"/>
              </a:rPr>
              <a:t>• Physical GPU Caches: </a:t>
            </a:r>
            <a:r>
              <a:rPr sz="1400">
                <a:solidFill>
                  <a:srgbClr val="2D3748"/>
                </a:solidFill>
                <a:latin typeface="IBM Plex Sans"/>
              </a:rPr>
              <a:t>Emulated cold cache; multi-GPU hardware prefix purging requires drivers.</a:t>
            </a:r>
          </a:p>
          <a:p>
            <a:pPr>
              <a:spcAft>
                <a:spcPts val="800"/>
              </a:spcAft>
            </a:pPr>
            <a:r>
              <a:rPr sz="1400" b="1">
                <a:solidFill>
                  <a:srgbClr val="191C21"/>
                </a:solidFill>
                <a:latin typeface="IBM Plex Sans"/>
              </a:rPr>
              <a:t>• External Merkle Sync: </a:t>
            </a:r>
            <a:r>
              <a:rPr sz="1400">
                <a:solidFill>
                  <a:srgbClr val="2D3748"/>
                </a:solidFill>
                <a:latin typeface="IBM Plex Sans"/>
              </a:rPr>
              <a:t>In-memory Merkle tree; production requires public transparency log syncing.</a:t>
            </a:r>
          </a:p>
          <a:p>
            <a:pPr>
              <a:spcAft>
                <a:spcPts val="800"/>
              </a:spcAft>
            </a:pPr>
            <a:r>
              <a:rPr sz="1400" b="1">
                <a:solidFill>
                  <a:srgbClr val="191C21"/>
                </a:solidFill>
                <a:latin typeface="IBM Plex Sans"/>
              </a:rPr>
              <a:t>• Network Enforcement: </a:t>
            </a:r>
            <a:r>
              <a:rPr sz="1400">
                <a:solidFill>
                  <a:srgbClr val="2D3748"/>
                </a:solidFill>
                <a:latin typeface="IBM Plex Sans"/>
              </a:rPr>
              <a:t>Software OPA mediation; production requires kernel-level Cilium eBPF filters.</a:t>
            </a:r>
          </a:p>
        </p:txBody>
      </p:sp>
      <p:sp>
        <p:nvSpPr>
          <p:cNvPr id="25" name="Rounded Rectangle 24"/>
          <p:cNvSpPr/>
          <p:nvPr/>
        </p:nvSpPr>
        <p:spPr>
          <a:xfrm>
            <a:off x="950000" y="8350000"/>
            <a:ext cx="7760000" cy="750000"/>
          </a:xfrm>
          <a:prstGeom prst="roundRect">
            <a:avLst/>
          </a:prstGeom>
          <a:solidFill>
            <a:srgbClr val="FDF2F2"/>
          </a:solidFill>
          <a:ln w="15875">
            <a:solidFill>
              <a:srgbClr val="A4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000" y="8400000"/>
            <a:ext cx="7660000" cy="650000"/>
          </a:xfrm>
          <a:prstGeom prst="rect">
            <a:avLst/>
          </a:prstGeom>
          <a:noFill/>
        </p:spPr>
        <p:txBody>
          <a:bodyPr wrap="none">
            <a:spAutoFit/>
          </a:bodyPr>
          <a:lstStyle/>
          <a:p>
            <a:pPr>
              <a:defRPr sz="1200" b="1">
                <a:solidFill>
                  <a:srgbClr val="A42323"/>
                </a:solidFill>
                <a:latin typeface="IBM Plex Sans"/>
              </a:defRPr>
            </a:pPr>
            <a:r>
              <a:t>🎯 TRANSPARENCY COMMITMENT: Clear distinction between validated PoC and production targets.</a:t>
            </a:r>
          </a:p>
        </p:txBody>
      </p:sp>
      <p:sp>
        <p:nvSpPr>
          <p:cNvPr id="27" name="Rounded Rectangle 26"/>
          <p:cNvSpPr/>
          <p:nvPr/>
        </p:nvSpPr>
        <p:spPr>
          <a:xfrm>
            <a:off x="9356480" y="4900000"/>
            <a:ext cx="8200000" cy="4400000"/>
          </a:xfrm>
          <a:prstGeom prst="roundRect">
            <a:avLst/>
          </a:prstGeom>
          <a:solidFill>
            <a:srgbClr val="FFFFFF"/>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580000" y="5080000"/>
            <a:ext cx="4000000" cy="280000"/>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Montserrat"/>
              </a:defRPr>
            </a:pPr>
            <a:r>
              <a:t>NEXT ENGINEERING MILESTONES</a:t>
            </a:r>
          </a:p>
        </p:txBody>
      </p:sp>
      <p:sp>
        <p:nvSpPr>
          <p:cNvPr id="29" name="TextBox 28"/>
          <p:cNvSpPr txBox="1"/>
          <p:nvPr/>
        </p:nvSpPr>
        <p:spPr>
          <a:xfrm>
            <a:off x="9580000" y="5450000"/>
            <a:ext cx="7760000" cy="2700000"/>
          </a:xfrm>
          <a:prstGeom prst="rect">
            <a:avLst/>
          </a:prstGeom>
          <a:noFill/>
        </p:spPr>
        <p:txBody>
          <a:bodyPr wrap="square">
            <a:spAutoFit/>
          </a:bodyPr>
          <a:lstStyle/>
          <a:p>
            <a:pPr>
              <a:spcAft>
                <a:spcPts val="800"/>
              </a:spcAft>
            </a:pPr>
            <a:r>
              <a:rPr sz="1400" b="1">
                <a:solidFill>
                  <a:srgbClr val="191C21"/>
                </a:solidFill>
                <a:latin typeface="IBM Plex Sans"/>
              </a:rPr>
              <a:t>• Kata Containerization: </a:t>
            </a:r>
            <a:r>
              <a:rPr sz="1400">
                <a:solidFill>
                  <a:srgbClr val="2D3748"/>
                </a:solidFill>
                <a:latin typeface="IBM Plex Sans"/>
              </a:rPr>
              <a:t>Package Red, Blue, and Model workers into microVM pods.</a:t>
            </a:r>
          </a:p>
          <a:p>
            <a:pPr>
              <a:spcAft>
                <a:spcPts val="800"/>
              </a:spcAft>
            </a:pPr>
            <a:r>
              <a:rPr sz="1400" b="1">
                <a:solidFill>
                  <a:srgbClr val="191C21"/>
                </a:solidFill>
                <a:latin typeface="IBM Plex Sans"/>
              </a:rPr>
              <a:t>• Hardware Memory Encryption: </a:t>
            </a:r>
            <a:r>
              <a:rPr sz="1400">
                <a:solidFill>
                  <a:srgbClr val="2D3748"/>
                </a:solidFill>
                <a:latin typeface="IBM Plex Sans"/>
              </a:rPr>
              <a:t>Integrate AMD SEV-SNP and NVIDIA Confidential Computing GPUs.</a:t>
            </a:r>
          </a:p>
          <a:p>
            <a:pPr>
              <a:spcAft>
                <a:spcPts val="800"/>
              </a:spcAft>
            </a:pPr>
            <a:r>
              <a:rPr sz="1400" b="1">
                <a:solidFill>
                  <a:srgbClr val="191C21"/>
                </a:solidFill>
                <a:latin typeface="IBM Plex Sans"/>
              </a:rPr>
              <a:t>• Public Ledger Anchoring: </a:t>
            </a:r>
            <a:r>
              <a:rPr sz="1400">
                <a:solidFill>
                  <a:srgbClr val="2D3748"/>
                </a:solidFill>
                <a:latin typeface="IBM Plex Sans"/>
              </a:rPr>
              <a:t>Anchor session Merkle roots to public Sigstore/Rekor logs.</a:t>
            </a:r>
          </a:p>
          <a:p>
            <a:pPr>
              <a:spcAft>
                <a:spcPts val="800"/>
              </a:spcAft>
            </a:pPr>
            <a:r>
              <a:rPr sz="1400" b="1">
                <a:solidFill>
                  <a:srgbClr val="191C21"/>
                </a:solidFill>
                <a:latin typeface="IBM Plex Sans"/>
              </a:rPr>
              <a:t>• Automated Jailbreak Swarms: </a:t>
            </a:r>
            <a:r>
              <a:rPr sz="1400">
                <a:solidFill>
                  <a:srgbClr val="2D3748"/>
                </a:solidFill>
                <a:latin typeface="IBM Plex Sans"/>
              </a:rPr>
              <a:t>Deploy agentic red-teaming algorithms for autonomous testing.</a:t>
            </a:r>
          </a:p>
        </p:txBody>
      </p:sp>
      <p:sp>
        <p:nvSpPr>
          <p:cNvPr id="30" name="Rounded Rectangle 29"/>
          <p:cNvSpPr/>
          <p:nvPr/>
        </p:nvSpPr>
        <p:spPr>
          <a:xfrm>
            <a:off x="9580000" y="8350000"/>
            <a:ext cx="7760000" cy="750000"/>
          </a:xfrm>
          <a:prstGeom prst="roundRect">
            <a:avLst/>
          </a:prstGeom>
          <a:solidFill>
            <a:srgbClr val="EEF4FC"/>
          </a:solidFill>
          <a:ln w="15875">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30000" y="8400000"/>
            <a:ext cx="7660000" cy="650000"/>
          </a:xfrm>
          <a:prstGeom prst="rect">
            <a:avLst/>
          </a:prstGeom>
          <a:noFill/>
        </p:spPr>
        <p:txBody>
          <a:bodyPr wrap="none">
            <a:spAutoFit/>
          </a:bodyPr>
          <a:lstStyle/>
          <a:p>
            <a:pPr>
              <a:defRPr sz="1200" b="1">
                <a:solidFill>
                  <a:srgbClr val="0066CC"/>
                </a:solidFill>
                <a:latin typeface="IBM Plex Sans"/>
              </a:defRPr>
            </a:pPr>
            <a:r>
              <a:t>⚡ PRODUCTION TARGET: Delivering bare-metal hardware isolation and public cryptographic anchoring.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8288000" cy="1205517"/>
          </a:xfrm>
          <a:prstGeom prst="rect">
            <a:avLst/>
          </a:prstGeom>
        </p:spPr>
      </p:pic>
      <p:sp>
        <p:nvSpPr>
          <p:cNvPr id="3" name="TextBox 2"/>
          <p:cNvSpPr txBox="1"/>
          <p:nvPr/>
        </p:nvSpPr>
        <p:spPr>
          <a:xfrm>
            <a:off x="1828800" y="4114800"/>
            <a:ext cx="14630400" cy="1371600"/>
          </a:xfrm>
          <a:prstGeom prst="rect">
            <a:avLst/>
          </a:prstGeom>
          <a:noFill/>
        </p:spPr>
        <p:txBody>
          <a:bodyPr wrap="square">
            <a:spAutoFit/>
          </a:bodyPr>
          <a:lstStyle/>
          <a:p>
            <a:pPr algn="ctr">
              <a:spcAft>
                <a:spcPts val="400"/>
              </a:spcAft>
              <a:defRPr sz="5600" b="1">
                <a:solidFill>
                  <a:srgbClr val="191C21"/>
                </a:solidFill>
                <a:latin typeface="Montserrat"/>
              </a:defRPr>
            </a:pPr>
            <a:r>
              <a:t>Thank You!</a:t>
            </a:r>
          </a:p>
          <a:p>
            <a:pPr algn="ctr">
              <a:defRPr sz="1700" b="1">
                <a:solidFill>
                  <a:srgbClr val="0066CC"/>
                </a:solidFill>
                <a:latin typeface="Montserrat"/>
              </a:defRPr>
            </a:pPr>
            <a:r>
              <a:t>Questions, Live Demonstration &amp; Technical Discussion Welcomed</a:t>
            </a:r>
          </a:p>
        </p:txBody>
      </p:sp>
      <p:sp>
        <p:nvSpPr>
          <p:cNvPr id="4" name="Rounded Rectangle 3"/>
          <p:cNvSpPr/>
          <p:nvPr/>
        </p:nvSpPr>
        <p:spPr>
          <a:xfrm>
            <a:off x="2544000" y="5700000"/>
            <a:ext cx="13200000" cy="3650000"/>
          </a:xfrm>
          <a:prstGeom prst="roundRect">
            <a:avLst/>
          </a:prstGeom>
          <a:solidFill>
            <a:srgbClr val="F9FBFD"/>
          </a:solidFill>
          <a:ln w="15875">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44000" y="5950000"/>
            <a:ext cx="12400000" cy="600000"/>
          </a:xfrm>
          <a:prstGeom prst="rect">
            <a:avLst/>
          </a:prstGeom>
          <a:noFill/>
        </p:spPr>
        <p:txBody>
          <a:bodyPr wrap="none">
            <a:spAutoFit/>
          </a:bodyPr>
          <a:lstStyle/>
          <a:p>
            <a:pPr algn="ctr">
              <a:defRPr sz="1450" b="1">
                <a:solidFill>
                  <a:srgbClr val="191C21"/>
                </a:solidFill>
                <a:latin typeface="Montserrat"/>
              </a:defRPr>
            </a:pPr>
            <a:r>
              <a:t>BAYORA: THE TRUSTED FOUNDATION FOR ADVANCED AI SAFETY</a:t>
            </a:r>
          </a:p>
          <a:p>
            <a:pPr algn="ctr">
              <a:defRPr sz="1100">
                <a:solidFill>
                  <a:srgbClr val="565D6C"/>
                </a:solidFill>
                <a:latin typeface="IBM Plex Sans"/>
              </a:defRPr>
            </a:pPr>
            <a:r>
              <a:t>Open Source Reference Implementation • Hack in hILL 2026</a:t>
            </a:r>
          </a:p>
        </p:txBody>
      </p:sp>
      <p:sp>
        <p:nvSpPr>
          <p:cNvPr id="6" name="TextBox 5"/>
          <p:cNvSpPr txBox="1"/>
          <p:nvPr/>
        </p:nvSpPr>
        <p:spPr>
          <a:xfrm>
            <a:off x="2944000" y="6650000"/>
            <a:ext cx="8600000" cy="2500000"/>
          </a:xfrm>
          <a:prstGeom prst="rect">
            <a:avLst/>
          </a:prstGeom>
          <a:noFill/>
        </p:spPr>
        <p:txBody>
          <a:bodyPr wrap="square">
            <a:spAutoFit/>
          </a:bodyPr>
          <a:lstStyle/>
          <a:p>
            <a:pPr>
              <a:spcAft>
                <a:spcPts val="800"/>
              </a:spcAft>
            </a:pPr>
            <a:r>
              <a:rPr sz="1300" b="1">
                <a:solidFill>
                  <a:srgbClr val="191C21"/>
                </a:solidFill>
                <a:latin typeface="IBM Plex Sans"/>
              </a:rPr>
              <a:t>🔗 GitHub Repository: </a:t>
            </a:r>
            <a:r>
              <a:rPr sz="1300" b="1">
                <a:solidFill>
                  <a:srgbClr val="0066CC"/>
                </a:solidFill>
                <a:latin typeface="IBM Plex Sans"/>
              </a:rPr>
              <a:t>https://github.com/cyber-anshuman/bayora-secure-ai-safety</a:t>
            </a:r>
          </a:p>
          <a:p>
            <a:pPr>
              <a:spcAft>
                <a:spcPts val="800"/>
              </a:spcAft>
            </a:pPr>
            <a:r>
              <a:rPr sz="1300" b="1">
                <a:solidFill>
                  <a:srgbClr val="191C21"/>
                </a:solidFill>
                <a:latin typeface="IBM Plex Sans"/>
              </a:rPr>
              <a:t>👤 Lead Architect: </a:t>
            </a:r>
            <a:r>
              <a:rPr sz="1300" b="1">
                <a:solidFill>
                  <a:srgbClr val="2D3748"/>
                </a:solidFill>
                <a:latin typeface="IBM Plex Sans"/>
              </a:rPr>
              <a:t>Anshuman Patel (anshumanpatel.in@gmail.com)</a:t>
            </a:r>
          </a:p>
          <a:p>
            <a:pPr>
              <a:spcAft>
                <a:spcPts val="800"/>
              </a:spcAft>
            </a:pPr>
            <a:r>
              <a:rPr sz="1300" b="1">
                <a:solidFill>
                  <a:srgbClr val="191C21"/>
                </a:solidFill>
                <a:latin typeface="IBM Plex Sans"/>
              </a:rPr>
              <a:t>🌐 Live Command Center: </a:t>
            </a:r>
            <a:r>
              <a:rPr sz="1300" b="1">
                <a:solidFill>
                  <a:srgbClr val="A42323"/>
                </a:solidFill>
                <a:latin typeface="IBM Plex Sans"/>
              </a:rPr>
              <a:t>[ADD DEMO URL / QR CODE]</a:t>
            </a:r>
          </a:p>
          <a:p>
            <a:pPr>
              <a:spcAft>
                <a:spcPts val="800"/>
              </a:spcAft>
            </a:pPr>
            <a:r>
              <a:rPr sz="1300" b="1">
                <a:solidFill>
                  <a:srgbClr val="191C21"/>
                </a:solidFill>
                <a:latin typeface="IBM Plex Sans"/>
              </a:rPr>
              <a:t>📋 Open-Source License: </a:t>
            </a:r>
            <a:r>
              <a:rPr sz="1300" b="1">
                <a:solidFill>
                  <a:srgbClr val="2D3748"/>
                </a:solidFill>
                <a:latin typeface="IBM Plex Sans"/>
              </a:rPr>
              <a:t>Apache-2.0 Reference Implementation</a:t>
            </a:r>
          </a:p>
        </p:txBody>
      </p:sp>
      <p:sp>
        <p:nvSpPr>
          <p:cNvPr id="7" name="Rounded Rectangle 6"/>
          <p:cNvSpPr/>
          <p:nvPr/>
        </p:nvSpPr>
        <p:spPr>
          <a:xfrm>
            <a:off x="11944000" y="6650000"/>
            <a:ext cx="3400000" cy="2300000"/>
          </a:xfrm>
          <a:prstGeom prst="roundRect">
            <a:avLst/>
          </a:prstGeom>
          <a:solidFill>
            <a:srgbClr val="FFFFFF"/>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094000" y="6800000"/>
            <a:ext cx="3100000" cy="2000000"/>
          </a:xfrm>
          <a:prstGeom prst="rect">
            <a:avLst/>
          </a:prstGeom>
          <a:noFill/>
        </p:spPr>
        <p:txBody>
          <a:bodyPr wrap="square">
            <a:spAutoFit/>
          </a:bodyPr>
          <a:lstStyle/>
          <a:p>
            <a:pPr algn="ctr">
              <a:spcAft>
                <a:spcPts val="400"/>
              </a:spcAft>
              <a:defRPr sz="1200" b="1">
                <a:solidFill>
                  <a:srgbClr val="0066CC"/>
                </a:solidFill>
                <a:latin typeface="Montserrat"/>
              </a:defRPr>
            </a:pPr>
            <a:r>
              <a:t>📱 [ADD QR CODE HERE]</a:t>
            </a:r>
          </a:p>
          <a:p>
            <a:pPr algn="ctr">
              <a:spcAft>
                <a:spcPts val="400"/>
              </a:spcAft>
              <a:defRPr sz="1100" b="1">
                <a:solidFill>
                  <a:srgbClr val="191C21"/>
                </a:solidFill>
                <a:latin typeface="IBM Plex Sans"/>
              </a:defRPr>
            </a:pPr>
            <a:r>
              <a:t>Scan to Open Live Verification Dossier</a:t>
            </a:r>
          </a:p>
          <a:p>
            <a:pPr algn="ctr">
              <a:defRPr sz="1000" b="1">
                <a:solidFill>
                  <a:srgbClr val="A42323"/>
                </a:solidFill>
                <a:latin typeface="IBM Plex Sans"/>
              </a:defRPr>
            </a:pPr>
            <a:r>
              <a:t>[ADD DEMO URL / QR CODE]</a:t>
            </a:r>
          </a:p>
        </p:txBody>
      </p:sp>
      <p:sp>
        <p:nvSpPr>
          <p:cNvPr id="9" name="Rounded Rectangle 8"/>
          <p:cNvSpPr/>
          <p:nvPr/>
        </p:nvSpPr>
        <p:spPr>
          <a:xfrm>
            <a:off x="3400000" y="9550000"/>
            <a:ext cx="2500000" cy="360000"/>
          </a:xfrm>
          <a:prstGeom prst="roundRect">
            <a:avLst/>
          </a:prstGeom>
          <a:solidFill>
            <a:srgbClr val="1F3A6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Montserrat"/>
              </a:defRPr>
            </a:pPr>
            <a:r>
              <a:t>Apache-2.0 License</a:t>
            </a:r>
          </a:p>
        </p:txBody>
      </p:sp>
      <p:sp>
        <p:nvSpPr>
          <p:cNvPr id="10" name="Rounded Rectangle 9"/>
          <p:cNvSpPr/>
          <p:nvPr/>
        </p:nvSpPr>
        <p:spPr>
          <a:xfrm>
            <a:off x="6100000" y="9550000"/>
            <a:ext cx="2500000" cy="360000"/>
          </a:xfrm>
          <a:prstGeom prst="roundRect">
            <a:avLst/>
          </a:prstGeom>
          <a:solidFill>
            <a:srgbClr val="1B663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Montserrat"/>
              </a:defRPr>
            </a:pPr>
            <a:r>
              <a:t>9/9 PoC Tests Passed</a:t>
            </a:r>
          </a:p>
        </p:txBody>
      </p:sp>
      <p:sp>
        <p:nvSpPr>
          <p:cNvPr id="11" name="Rounded Rectangle 10"/>
          <p:cNvSpPr/>
          <p:nvPr/>
        </p:nvSpPr>
        <p:spPr>
          <a:xfrm>
            <a:off x="8800000" y="9550000"/>
            <a:ext cx="2500000" cy="360000"/>
          </a:xfrm>
          <a:prstGeom prst="roundRect">
            <a:avLst/>
          </a:prstGeom>
          <a:solidFill>
            <a:srgbClr val="5A4574"/>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Montserrat"/>
              </a:defRPr>
            </a:pPr>
            <a:r>
              <a:t>7/7 Attacks Mitigated</a:t>
            </a:r>
          </a:p>
        </p:txBody>
      </p:sp>
      <p:sp>
        <p:nvSpPr>
          <p:cNvPr id="12" name="Rounded Rectangle 11"/>
          <p:cNvSpPr/>
          <p:nvPr/>
        </p:nvSpPr>
        <p:spPr>
          <a:xfrm>
            <a:off x="11500000" y="9550000"/>
            <a:ext cx="2500000" cy="360000"/>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Montserrat"/>
              </a:defRPr>
            </a:pPr>
            <a:r>
              <a:t>94.08% Coverage</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2362</Words>
  <Application>Microsoft Office PowerPoint</Application>
  <PresentationFormat>Custom</PresentationFormat>
  <Paragraphs>171</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IBM Plex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itz Ansh</cp:lastModifiedBy>
  <cp:revision>1</cp:revision>
  <dcterms:modified xsi:type="dcterms:W3CDTF">2026-09-28T15:56:50Z</dcterms:modified>
</cp:coreProperties>
</file>