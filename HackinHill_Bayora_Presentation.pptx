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10287000" cx="18288000"/>
  <p:notesSz cx="6858000" cy="9144000"/>
  <p:embeddedFontLst>
    <p:embeddedFont>
      <p:font typeface="IBM Plex Sans"/>
      <p:bold r:id="rId14"/>
      <p:boldItalic r:id="rId15"/>
    </p:embeddedFont>
    <p:embeddedFont>
      <p:font typeface="Caveat"/>
      <p:regular r:id="rId16"/>
      <p:bold r:id="rId17"/>
    </p:embeddedFont>
    <p:embeddedFont>
      <p:font typeface="Montserrat"/>
      <p:bold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font" Target="fonts/IBMPlexSans-bold.fntdata"/><Relationship Id="rId15" Type="http://schemas.openxmlformats.org/officeDocument/2006/relationships/font" Target="fonts/IBMPlexSans-boldItalic.fntdata"/><Relationship Id="rId16" Type="http://schemas.openxmlformats.org/officeDocument/2006/relationships/font" Target="fonts/Caveat-regular.fntdata"/><Relationship Id="rId17" Type="http://schemas.openxmlformats.org/officeDocument/2006/relationships/font" Target="fonts/Caveat-bold.fntdata"/><Relationship Id="rId18" Type="http://schemas.openxmlformats.org/officeDocument/2006/relationships/font" Target="fonts/Montserrat-bold.fntdata"/><Relationship Id="rId19" Type="http://schemas.openxmlformats.org/officeDocument/2006/relationships/font" Target="fonts/Montserra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3" title="download (2).jpg"/>
          <p:cNvPicPr preferRelativeResize="0"/>
          <p:nvPr/>
        </p:nvPicPr>
        <p:blipFill rotWithShape="1">
          <a:blip r:embed="rId3">
            <a:alphaModFix/>
          </a:blip>
          <a:srcRect b="0" l="38928" r="16455" t="0"/>
          <a:stretch/>
        </p:blipFill>
        <p:spPr>
          <a:xfrm rot="-5400000">
            <a:off x="7123100" y="-7111200"/>
            <a:ext cx="4088375" cy="1832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title="Group 4809783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675" y="296224"/>
            <a:ext cx="7240346" cy="79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3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520575" y="296231"/>
            <a:ext cx="5599601" cy="7919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Rounded Rectangle 89"/>
          <p:cNvSpPr/>
          <p:nvPr/>
        </p:nvSpPr>
        <p:spPr>
          <a:xfrm>
            <a:off x="731520" y="4343400"/>
            <a:ext cx="5303520" cy="3200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1000" b="1">
                <a:solidFill>
                  <a:srgbClr val="FFFFFF"/>
                </a:solidFill>
                <a:latin typeface="IBM Plex Sans"/>
              </a:defRPr>
            </a:pPr>
            <a:r>
              <a:t>HACK IN HILL 2026 • ADVANCED VERIFICATION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" y="4754880"/>
            <a:ext cx="896112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4000" b="1">
                <a:solidFill>
                  <a:srgbClr val="0F172A"/>
                </a:solidFill>
                <a:latin typeface="Montserrat"/>
              </a:defRPr>
            </a:pPr>
            <a:r>
              <a:t>🛡️ BAYORA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31520" y="5669280"/>
            <a:ext cx="896112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600" b="1">
                <a:solidFill>
                  <a:srgbClr val="0284C7"/>
                </a:solidFill>
                <a:latin typeface="IBM Plex Sans"/>
              </a:defRPr>
            </a:pPr>
            <a:r>
              <a:t>Secure Multi-Tenant Adversarial AI Safety Testing Architecture Platform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1520" y="6400800"/>
            <a:ext cx="8961120" cy="1188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>
                <a:solidFill>
                  <a:srgbClr val="475569"/>
                </a:solidFill>
                <a:latin typeface="IBM Plex Sans"/>
              </a:defRPr>
            </a:pPr>
            <a:r>
              <a:t>A production reference implementation for running mutually distrusting Red Teams (attackers), Blue Teams (defenders), and Subject LLMs concurrently on shared infrastructure with zero unauthorized leakage and cryptographic WORM audit provenance.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31520" y="7726680"/>
            <a:ext cx="210312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🔒 Kata microVMs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971800" y="7726680"/>
            <a:ext cx="210312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⚡ Cilium eBPF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212080" y="7726680"/>
            <a:ext cx="210312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🔄 Canary Probes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452360" y="7726680"/>
            <a:ext cx="210312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📜 WORM Provenance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0058400" y="4343400"/>
            <a:ext cx="7498079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0424160" y="4572000"/>
            <a:ext cx="4023360" cy="3200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1000" b="1">
                <a:solidFill>
                  <a:srgbClr val="FFFFFF"/>
                </a:solidFill>
                <a:latin typeface="IBM Plex Sans"/>
              </a:defRPr>
            </a:pPr>
            <a:r>
              <a:t>TEAM &amp; PROJECT SPECIFICATION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424160" y="4983480"/>
            <a:ext cx="6766559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 b="1">
                <a:solidFill>
                  <a:srgbClr val="0F172A"/>
                </a:solidFill>
                <a:latin typeface="IBM Plex Sans"/>
              </a:rPr>
              <a:t>• Team Name: </a:t>
            </a:r>
            <a:r>
              <a:rPr sz="950">
                <a:solidFill>
                  <a:srgbClr val="475569"/>
                </a:solidFill>
                <a:latin typeface="IBM Plex Sans"/>
              </a:rPr>
              <a:t>Bayora Security &amp; Architecture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0F172A"/>
                </a:solidFill>
                <a:latin typeface="IBM Plex Sans"/>
              </a:rPr>
              <a:t>• Project Lead: </a:t>
            </a:r>
            <a:r>
              <a:rPr sz="950">
                <a:solidFill>
                  <a:srgbClr val="475569"/>
                </a:solidFill>
                <a:latin typeface="IBM Plex Sans"/>
              </a:rPr>
              <a:t>Anshuman Patel (Lead / Full-Stack &amp; Systems Architect)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0F172A"/>
                </a:solidFill>
                <a:latin typeface="IBM Plex Sans"/>
              </a:rPr>
              <a:t>• Lead Email: </a:t>
            </a:r>
            <a:r>
              <a:rPr sz="950">
                <a:solidFill>
                  <a:srgbClr val="475569"/>
                </a:solidFill>
                <a:latin typeface="IBM Plex Sans"/>
              </a:rPr>
              <a:t>anshumanpatel.in@gmail.com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0F172A"/>
                </a:solidFill>
                <a:latin typeface="IBM Plex Sans"/>
              </a:rPr>
              <a:t>• Working Group: </a:t>
            </a:r>
            <a:r>
              <a:rPr sz="950">
                <a:solidFill>
                  <a:srgbClr val="475569"/>
                </a:solidFill>
                <a:latin typeface="IBM Plex Sans"/>
              </a:rPr>
              <a:t>Bayora Red-Teaming, WORM Audit &amp; Formal Verification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0F172A"/>
                </a:solidFill>
                <a:latin typeface="IBM Plex Sans"/>
              </a:rPr>
              <a:t>• GitHub Repository: </a:t>
            </a:r>
            <a:r>
              <a:rPr sz="950">
                <a:solidFill>
                  <a:srgbClr val="475569"/>
                </a:solidFill>
                <a:latin typeface="IBM Plex Sans"/>
              </a:rPr>
              <a:t>https://github.com/cyber-anshuman/bayora-secure-ai-safety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0F172A"/>
                </a:solidFill>
                <a:latin typeface="IBM Plex Sans"/>
              </a:rPr>
              <a:t>• Open-Source License: </a:t>
            </a:r>
            <a:r>
              <a:rPr sz="950">
                <a:solidFill>
                  <a:srgbClr val="475569"/>
                </a:solidFill>
                <a:latin typeface="IBM Plex Sans"/>
              </a:rPr>
              <a:t>Apache-2.0 Open Source Reference Implementation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0F172A"/>
                </a:solidFill>
                <a:latin typeface="IBM Plex Sans"/>
              </a:rPr>
              <a:t>• PoC Test Suite: </a:t>
            </a:r>
            <a:r>
              <a:rPr sz="950">
                <a:solidFill>
                  <a:srgbClr val="475569"/>
                </a:solidFill>
                <a:latin typeface="IBM Plex Sans"/>
              </a:rPr>
              <a:t>9/9 Formal Tests Passed (100% Verified Isolation)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0F172A"/>
                </a:solidFill>
                <a:latin typeface="IBM Plex Sans"/>
              </a:rPr>
              <a:t>• Adversarial Attacks: </a:t>
            </a:r>
            <a:r>
              <a:rPr sz="950">
                <a:solidFill>
                  <a:srgbClr val="475569"/>
                </a:solidFill>
                <a:latin typeface="IBM Plex Sans"/>
              </a:rPr>
              <a:t>7/7 Attack Simulations Mitigated (100% Defeated)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0F172A"/>
                </a:solidFill>
                <a:latin typeface="IBM Plex Sans"/>
              </a:rPr>
              <a:t>• Benchmark Datasets: </a:t>
            </a:r>
            <a:r>
              <a:rPr sz="950">
                <a:solidFill>
                  <a:srgbClr val="475569"/>
                </a:solidFill>
                <a:latin typeface="IBM Plex Sans"/>
              </a:rPr>
              <a:t>8 Integrated Standard Datasets (AdvBench, JBB, HarmBench, etc.)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0F172A"/>
                </a:solidFill>
                <a:latin typeface="IBM Plex Sans"/>
              </a:rPr>
              <a:t>• Web Command Center: </a:t>
            </a:r>
            <a:r>
              <a:rPr sz="950">
                <a:solidFill>
                  <a:srgbClr val="475569"/>
                </a:solidFill>
                <a:latin typeface="IBM Plex Sans"/>
              </a:rPr>
              <a:t>Live Interactive Ops Dashboard on http://localhost:3000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 txBox="1"/>
          <p:nvPr/>
        </p:nvSpPr>
        <p:spPr>
          <a:xfrm>
            <a:off x="731520" y="1261872"/>
            <a:ext cx="1645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  <a:defRPr sz="2500" b="1">
                <a:solidFill>
                  <a:srgbClr val="0F172A"/>
                </a:solidFill>
                <a:latin typeface="Montserrat"/>
              </a:defRPr>
            </a:pPr>
            <a:r>
              <a:rPr b="1" i="0" lang="en-US" sz="3095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PROBLEM STATEMENT &amp; THEME</a:t>
            </a:r>
            <a:endParaRPr/>
          </a:p>
        </p:txBody>
      </p:sp>
      <p:pic>
        <p:nvPicPr>
          <p:cNvPr id="98" name="Google Shape;98;p14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TextBox 98"/>
          <p:cNvSpPr txBox="1"/>
          <p:nvPr/>
        </p:nvSpPr>
        <p:spPr>
          <a:xfrm>
            <a:off x="731520" y="1783080"/>
            <a:ext cx="1645920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IBM Plex Sans"/>
              </a:defRPr>
            </a:pPr>
            <a:r>
              <a:t>The Multi-Tenant Adversarial AI Dilemma &amp; Trust Boundary Collapse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731520" y="2331720"/>
            <a:ext cx="5303520" cy="6858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1005840" y="2560320"/>
            <a:ext cx="2011680" cy="29260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THE CORE PROBLEM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05840" y="297180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Montserrat"/>
              </a:defRPr>
            </a:pPr>
            <a:r>
              <a:t>Mutually Hostile Multi-Tenancy</a:t>
            </a:r>
          </a:p>
          <a:p>
            <a:pPr>
              <a:spcBef>
                <a:spcPts val="1100"/>
              </a:spcBef>
            </a:pPr>
            <a:r>
              <a:rPr b="1" sz="1100">
                <a:solidFill>
                  <a:srgbClr val="0F172A"/>
                </a:solidFill>
              </a:rPr>
              <a:t>• Passive Cloud Fallacy: </a:t>
            </a:r>
            <a:r>
              <a:rPr sz="1050">
                <a:solidFill>
                  <a:srgbClr val="475569"/>
                </a:solidFill>
              </a:rPr>
              <a:t>Traditional cloud multi-tenancy assumes tenants are passive and non-colluding. In AI safety testing, tenants are actively incentivized to breach isolation.</a:t>
            </a:r>
          </a:p>
          <a:p>
            <a:pPr>
              <a:spcBef>
                <a:spcPts val="1100"/>
              </a:spcBef>
            </a:pPr>
            <a:r>
              <a:rPr b="1" sz="1100">
                <a:solidFill>
                  <a:srgbClr val="0F172A"/>
                </a:solidFill>
              </a:rPr>
              <a:t>• Attacker (Red Team): </a:t>
            </a:r>
            <a:r>
              <a:rPr sz="1050">
                <a:solidFill>
                  <a:srgbClr val="475569"/>
                </a:solidFill>
              </a:rPr>
              <a:t>Incentivized to extract defensive heuristics, bypass test harness constraints, and execute evasive jailbreaks.</a:t>
            </a:r>
          </a:p>
          <a:p>
            <a:pPr>
              <a:spcBef>
                <a:spcPts val="1100"/>
              </a:spcBef>
            </a:pPr>
            <a:r>
              <a:rPr b="1" sz="1100">
                <a:solidFill>
                  <a:srgbClr val="0F172A"/>
                </a:solidFill>
              </a:rPr>
              <a:t>• Defender (Blue Team): </a:t>
            </a:r>
            <a:r>
              <a:rPr sz="1050">
                <a:solidFill>
                  <a:srgbClr val="475569"/>
                </a:solidFill>
              </a:rPr>
              <a:t>Incentivized to inspect upcoming attack vectors to artificially inflate benchmark resilience scores before evaluation.</a:t>
            </a:r>
          </a:p>
          <a:p>
            <a:pPr>
              <a:spcBef>
                <a:spcPts val="1100"/>
              </a:spcBef>
            </a:pPr>
            <a:r>
              <a:rPr b="1" sz="1100">
                <a:solidFill>
                  <a:srgbClr val="0F172A"/>
                </a:solidFill>
              </a:rPr>
              <a:t>• Test Subject (LLM): </a:t>
            </a:r>
            <a:r>
              <a:rPr sz="1050">
                <a:solidFill>
                  <a:srgbClr val="475569"/>
                </a:solidFill>
              </a:rPr>
              <a:t>An adaptive stochastic model capable of acting as an exfiltration bridge via prompt injections, prefix cache bleed, or steganographic token encoding.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005840" y="7863840"/>
            <a:ext cx="4754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97280" y="7909560"/>
            <a:ext cx="4572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EF4444"/>
                </a:solidFill>
                <a:latin typeface="Montserrat"/>
              </a:defRPr>
            </a:pPr>
            <a:r>
              <a:t>🚨 CORE ARCHITECTURAL PARADOX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How to run 3 actively adversarial parties on shared compute with mathematical assurance of zero information leakage.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400800" y="2331720"/>
            <a:ext cx="5303520" cy="6858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6675120" y="2560320"/>
            <a:ext cx="2194560" cy="29260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0F172A"/>
                </a:solidFill>
                <a:latin typeface="IBM Plex Sans"/>
              </a:defRPr>
            </a:pPr>
            <a:r>
              <a:t>REAL-WORLD IMPACT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675120" y="297180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Montserrat"/>
              </a:defRPr>
            </a:pPr>
            <a:r>
              <a:t>Catastrophic Failure Modes</a:t>
            </a:r>
          </a:p>
          <a:p>
            <a:pPr>
              <a:spcBef>
                <a:spcPts val="1100"/>
              </a:spcBef>
            </a:pPr>
            <a:r>
              <a:rPr b="1" sz="1100">
                <a:solidFill>
                  <a:srgbClr val="0F172A"/>
                </a:solidFill>
              </a:rPr>
              <a:t>• KV-Cache &amp; State Contamination: </a:t>
            </a:r>
            <a:r>
              <a:rPr sz="1050">
                <a:solidFill>
                  <a:srgbClr val="475569"/>
                </a:solidFill>
              </a:rPr>
              <a:t>Shared GPU KV-caches and memory buffers bleed prompt tokens across sessions, destroying safety evaluation independence.</a:t>
            </a:r>
          </a:p>
          <a:p>
            <a:pPr>
              <a:spcBef>
                <a:spcPts val="1100"/>
              </a:spcBef>
            </a:pPr>
            <a:r>
              <a:rPr b="1" sz="1100">
                <a:solidFill>
                  <a:srgbClr val="0F172A"/>
                </a:solidFill>
              </a:rPr>
              <a:t>• Side-Channel Exfiltration: </a:t>
            </a:r>
            <a:r>
              <a:rPr sz="1050">
                <a:solidFill>
                  <a:srgbClr val="475569"/>
                </a:solidFill>
              </a:rPr>
              <a:t>Statistical timing channels and detailed error stack traces allow attackers to reverse-engineer blue defensive logic.</a:t>
            </a:r>
          </a:p>
          <a:p>
            <a:pPr>
              <a:spcBef>
                <a:spcPts val="1100"/>
              </a:spcBef>
            </a:pPr>
            <a:r>
              <a:rPr b="1" sz="1100">
                <a:solidFill>
                  <a:srgbClr val="0F172A"/>
                </a:solidFill>
              </a:rPr>
              <a:t>• Environmental Jitter: </a:t>
            </a:r>
            <a:r>
              <a:rPr sz="1050">
                <a:solidFill>
                  <a:srgbClr val="475569"/>
                </a:solidFill>
              </a:rPr>
              <a:t>Network timeouts, packet drops, or GPU quota throttling cause truncated responses that mimic successful safety jailbreaks.</a:t>
            </a:r>
          </a:p>
          <a:p>
            <a:pPr>
              <a:spcBef>
                <a:spcPts val="1100"/>
              </a:spcBef>
            </a:pPr>
            <a:r>
              <a:rPr b="1" sz="1100">
                <a:solidFill>
                  <a:srgbClr val="0F172A"/>
                </a:solidFill>
              </a:rPr>
              <a:t>• Fraudulent Safety Certifications: </a:t>
            </a:r>
            <a:r>
              <a:rPr sz="1050">
                <a:solidFill>
                  <a:srgbClr val="475569"/>
                </a:solidFill>
              </a:rPr>
              <a:t>Models certified 'safe' due to harness failure deploy into critical healthcare, finance, and defense infrastructure.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675120" y="7863840"/>
            <a:ext cx="4754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766560" y="7909560"/>
            <a:ext cx="4572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Montserrat"/>
              </a:defRPr>
            </a:pPr>
            <a:r>
              <a:t>⚠️ HIGH SEVERITY CONSEQUENCE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False-positive certifications lead to deployment of dangerous model weights in regulated autonomous &amp; clinical applications.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2070080" y="2331720"/>
            <a:ext cx="5303520" cy="6858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12344400" y="2560320"/>
            <a:ext cx="237744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THEME ALIGNMENT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2344400" y="297180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Montserrat"/>
              </a:defRPr>
            </a:pPr>
            <a:r>
              <a:t>Zero-Trust AI Safety Verification</a:t>
            </a:r>
          </a:p>
          <a:p>
            <a:pPr>
              <a:spcBef>
                <a:spcPts val="1100"/>
              </a:spcBef>
            </a:pPr>
            <a:r>
              <a:rPr b="1" sz="1100">
                <a:solidFill>
                  <a:srgbClr val="0F172A"/>
                </a:solidFill>
              </a:rPr>
              <a:t>• Hack in hILL Alignment: </a:t>
            </a:r>
            <a:r>
              <a:rPr sz="1050">
                <a:solidFill>
                  <a:srgbClr val="475569"/>
                </a:solidFill>
              </a:rPr>
              <a:t>Directly targets Next-Gen AI Safety, Zero-Trust Computing &amp; Provable Cryptographic Assurance for frontier AI models.</a:t>
            </a:r>
          </a:p>
          <a:p>
            <a:pPr>
              <a:spcBef>
                <a:spcPts val="1100"/>
              </a:spcBef>
            </a:pPr>
            <a:r>
              <a:rPr b="1" sz="1100">
                <a:solidFill>
                  <a:srgbClr val="0F172A"/>
                </a:solidFill>
              </a:rPr>
              <a:t>• The Core Thesis: </a:t>
            </a:r>
            <a:r>
              <a:rPr sz="1050">
                <a:solidFill>
                  <a:srgbClr val="475569"/>
                </a:solidFill>
              </a:rPr>
              <a:t>You cannot certify AI safety on an uncertified, permeable testing harness. The evaluation testbed itself must be mathematically provable.</a:t>
            </a:r>
          </a:p>
          <a:p>
            <a:pPr>
              <a:spcBef>
                <a:spcPts val="1100"/>
              </a:spcBef>
            </a:pPr>
            <a:r>
              <a:rPr b="1" sz="1100">
                <a:solidFill>
                  <a:srgbClr val="0F172A"/>
                </a:solidFill>
              </a:rPr>
              <a:t>• Bayora's Resolution: </a:t>
            </a:r>
            <a:r>
              <a:rPr sz="1050">
                <a:solidFill>
                  <a:srgbClr val="475569"/>
                </a:solidFill>
              </a:rPr>
              <a:t>Introduces hardware microVMs, non-reversible state-machine brokering, cold worker lifecycles, and tamper-evident WORM provenance.</a:t>
            </a:r>
          </a:p>
          <a:p>
            <a:pPr>
              <a:spcBef>
                <a:spcPts val="1100"/>
              </a:spcBef>
            </a:pPr>
            <a:r>
              <a:rPr b="1" sz="1100">
                <a:solidFill>
                  <a:srgbClr val="0F172A"/>
                </a:solidFill>
              </a:rPr>
              <a:t>• Auditable Guarantee: </a:t>
            </a:r>
            <a:r>
              <a:rPr sz="1050">
                <a:solidFill>
                  <a:srgbClr val="475569"/>
                </a:solidFill>
              </a:rPr>
              <a:t>Generates mathematically verifiable cryptographic proofs acceptable to third-party regulatory bodies (EU AI Act &amp; NIST AI RMF).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12344400" y="7863840"/>
            <a:ext cx="4754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435840" y="7909560"/>
            <a:ext cx="4572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Montserrat"/>
              </a:defRPr>
            </a:pPr>
            <a:r>
              <a:t>🎯 HACKATHON VALUE PROPOSITION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Delivers the world's first provable, multi-tenant evaluation harness satisfying stringent international AI safety standards.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5"/>
          <p:cNvSpPr txBox="1"/>
          <p:nvPr/>
        </p:nvSpPr>
        <p:spPr>
          <a:xfrm>
            <a:off x="731520" y="1261872"/>
            <a:ext cx="1645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  <a:defRPr sz="2500" b="1">
                <a:solidFill>
                  <a:srgbClr val="0F172A"/>
                </a:solidFill>
                <a:latin typeface="Montserrat"/>
              </a:defRPr>
            </a:pPr>
            <a:r>
              <a:rPr b="1" i="0" lang="en-US" sz="3095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SOLUTION</a:t>
            </a:r>
            <a:endParaRPr/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3095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7" name="Google Shape;107;p15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TextBox 107"/>
          <p:cNvSpPr txBox="1"/>
          <p:nvPr/>
        </p:nvSpPr>
        <p:spPr>
          <a:xfrm>
            <a:off x="731520" y="1783080"/>
            <a:ext cx="1645920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IBM Plex Sans"/>
              </a:defRPr>
            </a:pPr>
            <a:r>
              <a:t>Hardware-Isolated Zero-Trust Verification Architecture &amp; Provenance Engine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31520" y="2331720"/>
            <a:ext cx="166420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05840" y="2423160"/>
            <a:ext cx="16093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Montserrat"/>
              </a:defRPr>
            </a:pPr>
            <a:r>
              <a:t>BAYORA PLATFORM ARCHITECTURAL SOLUTION OVERVIEW</a:t>
            </a:r>
          </a:p>
          <a:p>
            <a:pPr>
              <a:defRPr sz="1100">
                <a:solidFill>
                  <a:srgbClr val="0F172A"/>
                </a:solidFill>
                <a:latin typeface="IBM Plex Sans"/>
              </a:defRPr>
            </a:pPr>
            <a:r>
              <a:t>Bayora is an end-to-end multi-tenant adversarial AI evaluation platform providing hardware-enforced microVM isolation, non-reversible state-machine brokering, cold model lifecycles, and tamper-evident WORM provenance for multi-tenant AI red teaming.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1520" y="3566160"/>
            <a:ext cx="5303520" cy="5623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1005840" y="3749040"/>
            <a:ext cx="292608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PILLAR 1: ISOLATION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5840" y="4114800"/>
            <a:ext cx="475488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Montserrat"/>
              </a:defRPr>
            </a:pPr>
            <a:r>
              <a:t>Hardware Micro-Segmentation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Kata Containers microVMs: </a:t>
            </a:r>
            <a:r>
              <a:rPr sz="1000">
                <a:solidFill>
                  <a:srgbClr val="475569"/>
                </a:solidFill>
              </a:rPr>
              <a:t>Red, Blue, and Model run in separate hardware microVMs. Linux capabilities CAP_NET_RAW, CAP_SYS_ADMIN, CAP_SYS_PTRACE dropped.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Cilium eBPF Default-Deny: </a:t>
            </a:r>
            <a:r>
              <a:rPr sz="1000">
                <a:solidFill>
                  <a:srgbClr val="475569"/>
                </a:solidFill>
              </a:rPr>
              <a:t>P2P network traffic (Red ↔ Blue, Red ↔ Model) structurally blocked at kernel eBPF layer. Cloud IMDS 169.254.169.254 blocked.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Zero Internet Egress: </a:t>
            </a:r>
            <a:r>
              <a:rPr sz="1000">
                <a:solidFill>
                  <a:srgbClr val="475569"/>
                </a:solidFill>
              </a:rPr>
              <a:t>Inference worker runs in an isolated network enclave with zero internet connectivity, preventing steganographic exfiltration.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NUMA Anti-Affinity: </a:t>
            </a:r>
            <a:r>
              <a:rPr sz="1000">
                <a:solidFill>
                  <a:srgbClr val="475569"/>
                </a:solidFill>
              </a:rPr>
              <a:t>Red and Blue assigned to disjoint NUMA domains &amp; physical cores (cpuset:0-3 vs cpuset:4-7) to defeat CPU cache side-channels.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005840" y="8138160"/>
            <a:ext cx="47548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97280" y="818388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284C7"/>
                </a:solidFill>
              </a:defRPr>
            </a:pPr>
            <a:r>
              <a:t>🛡️ ISOLATION GUARANTEE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MicroVM hardware boundary prevents kernel escapes, raw packet sniffing, and cross-tenant memory snooping.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400800" y="3566160"/>
            <a:ext cx="5303520" cy="5623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6675120" y="3749040"/>
            <a:ext cx="2926080" cy="2926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PILLAR 2: LIFECYCLE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675120" y="4114800"/>
            <a:ext cx="475488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Montserrat"/>
              </a:defRPr>
            </a:pPr>
            <a:r>
              <a:t>7-Phase State Machine &amp; Canaries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Strict 7-Phase Progression: </a:t>
            </a:r>
            <a:r>
              <a:rPr sz="1000">
                <a:solidFill>
                  <a:srgbClr val="475569"/>
                </a:solidFill>
              </a:rPr>
              <a:t>Broker enforces non-reversible state machine: SETUP → RED_TURN → INFERENCE → EVAL → BLUE_TURN → CONCLUDE → DISCLOSURE.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In-Path OPA Policy Engine: </a:t>
            </a:r>
            <a:r>
              <a:rPr sz="1000">
                <a:solidFill>
                  <a:srgbClr val="475569"/>
                </a:solidFill>
              </a:rPr>
              <a:t>Every message intercepted by Open Policy Agent PDP to enforce scoped Vault capability tokens.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Dedicated Model Lifecycle: </a:t>
            </a:r>
            <a:r>
              <a:rPr sz="1000">
                <a:solidFill>
                  <a:srgbClr val="475569"/>
                </a:solidFill>
              </a:rPr>
              <a:t>CREATE → INITIALIZE → TEST → VERIFY → DESTROY. Fresh instance instantiated per turn with pinned weight SHA-256 (cold cache guarantee).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Automated Canary Probes: </a:t>
            </a:r>
            <a:r>
              <a:rPr sz="1000">
                <a:solidFill>
                  <a:srgbClr val="475569"/>
                </a:solidFill>
              </a:rPr>
              <a:t>Executes deterministic canary prompt (CANARY_PROBE_V1). Any deviation destroys instance as CONTAMINATED_INSTANCE.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675120" y="8138160"/>
            <a:ext cx="47548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766560" y="818388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</a:defRPr>
            </a:pPr>
            <a:r>
              <a:t>🔄 LIFECYCLE GUARANTEE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Zero residual KV-cache state or adapter weights survive session teardown. Canary catches model drift.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12070080" y="3566160"/>
            <a:ext cx="5303520" cy="5623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12344400" y="3749040"/>
            <a:ext cx="2926080" cy="29260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PILLAR 3: INTEGRITY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344400" y="4114800"/>
            <a:ext cx="475488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Montserrat"/>
              </a:defRPr>
            </a:pPr>
            <a:r>
              <a:t>Cryptographic WORM Provenance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SHA-256 Hash Chaining: </a:t>
            </a:r>
            <a:r>
              <a:rPr sz="1000">
                <a:solidFill>
                  <a:srgbClr val="475569"/>
                </a:solidFill>
              </a:rPr>
              <a:t>Every log entry cryptographically links to predecessor: H_i = SHA256(H_{i-1} || Timestamp || Tenant || Event || Digest).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Merkle Root Anchoring: </a:t>
            </a:r>
            <a:r>
              <a:rPr sz="1000">
                <a:solidFill>
                  <a:srgbClr val="475569"/>
                </a:solidFill>
              </a:rPr>
              <a:t>Log entries aggregated into Merkle tree roots and committed externally, enabling auditor verification without full data disclosure.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Write-Only Tenant Interface: </a:t>
            </a:r>
            <a:r>
              <a:rPr sz="1000">
                <a:solidFill>
                  <a:srgbClr val="475569"/>
                </a:solidFill>
              </a:rPr>
              <a:t>Tenants can append evidence but cannot query the log (E_AUDIT_WRITE_ONLY), closing covert backchannel communication.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Side-Channel Neutralization: </a:t>
            </a:r>
            <a:r>
              <a:rPr sz="1000">
                <a:solidFill>
                  <a:srgbClr val="475569"/>
                </a:solidFill>
              </a:rPr>
              <a:t>Quantizes raw execution times into uniform 250ms buckets and maps stack traces into fixed error taxonomy (SEC_ERR_01).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2344400" y="8138160"/>
            <a:ext cx="47548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2435840" y="818388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0B981"/>
                </a:solidFill>
              </a:defRPr>
            </a:pPr>
            <a:r>
              <a:t>📜 PROVENANCE GUARANTEE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Tamper-evident hash chain &amp; Merkle tree prove safety evaluation integrity to third-party auditors.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6"/>
          <p:cNvSpPr txBox="1"/>
          <p:nvPr/>
        </p:nvSpPr>
        <p:spPr>
          <a:xfrm>
            <a:off x="731520" y="1261872"/>
            <a:ext cx="1645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  <a:defRPr sz="2500" b="1">
                <a:solidFill>
                  <a:srgbClr val="0F172A"/>
                </a:solidFill>
                <a:latin typeface="Montserrat"/>
              </a:defRPr>
            </a:pPr>
            <a:r>
              <a:rPr b="1" i="0" lang="en-US" sz="3095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ARCHITECTURE</a:t>
            </a:r>
            <a:endParaRPr/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3095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6" name="Google Shape;116;p16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TextBox 116"/>
          <p:cNvSpPr txBox="1"/>
          <p:nvPr/>
        </p:nvSpPr>
        <p:spPr>
          <a:xfrm>
            <a:off x="731520" y="1783080"/>
            <a:ext cx="1645920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IBM Plex Sans"/>
              </a:defRPr>
            </a:pPr>
            <a:r>
              <a:t>Defense-in-Depth System Topology, Data Flow &amp; Technology Stack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31520" y="2331720"/>
            <a:ext cx="8412480" cy="685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1005840" y="2560320"/>
            <a:ext cx="3291840" cy="29260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SYSTEM TOPOLOGY &amp; BOUNDARIES</a:t>
            </a:r>
          </a:p>
        </p:txBody>
      </p:sp>
      <p:pic>
        <p:nvPicPr>
          <p:cNvPr id="120" name="Picture 119" descr="demo_topolog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971800"/>
            <a:ext cx="7955279" cy="3838909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1005840" y="7086600"/>
            <a:ext cx="7863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Montserrat"/>
              </a:defRPr>
            </a:pPr>
            <a:r>
              <a:t>Key Architectural Boundaries (§E, §Q):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0F172A"/>
                </a:solidFill>
              </a:rPr>
              <a:t>• Control Plane: </a:t>
            </a:r>
            <a:r>
              <a:rPr sz="900">
                <a:solidFill>
                  <a:srgbClr val="475569"/>
                </a:solidFill>
              </a:rPr>
              <a:t>Minimal privilege Broker + OPA PDP + Vault short-lived lease generator.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0F172A"/>
                </a:solidFill>
              </a:rPr>
              <a:t>• Kata microVMs: </a:t>
            </a:r>
            <a:r>
              <a:rPr sz="900">
                <a:solidFill>
                  <a:srgbClr val="475569"/>
                </a:solidFill>
              </a:rPr>
              <a:t>Red VM (cpuset 0-3), Blue VM (cpuset 4-7), Dedicated Model Worker (zero egress).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0F172A"/>
                </a:solidFill>
              </a:rPr>
              <a:t>• eBPF Enclave: </a:t>
            </a:r>
            <a:r>
              <a:rPr sz="900">
                <a:solidFill>
                  <a:srgbClr val="475569"/>
                </a:solidFill>
              </a:rPr>
              <a:t>Cilium CNI default-deny drops all cross-sandbox direct traffic.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0F172A"/>
                </a:solidFill>
              </a:rPr>
              <a:t>• Audit Layer: </a:t>
            </a:r>
            <a:r>
              <a:rPr sz="900">
                <a:solidFill>
                  <a:srgbClr val="475569"/>
                </a:solidFill>
              </a:rPr>
              <a:t>WORM append-only log with Merkle root external anchoring.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9326880" y="2331720"/>
            <a:ext cx="8046720" cy="6858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9601200" y="2560320"/>
            <a:ext cx="25603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TECH STACK &amp; DATA FLOW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601200" y="2926080"/>
            <a:ext cx="74980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Montserrat"/>
              </a:defRPr>
            </a:pPr>
            <a:r>
              <a:t>Production Technology Stack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F172A"/>
                </a:solidFill>
              </a:rPr>
              <a:t>• Runtime &amp; Platform: </a:t>
            </a:r>
            <a:r>
              <a:rPr sz="950">
                <a:solidFill>
                  <a:srgbClr val="475569"/>
                </a:solidFill>
              </a:rPr>
              <a:t>Node.js (v18+), Express REST APIs, Linux Kata Containers (microVMs), containerd.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F172A"/>
                </a:solidFill>
              </a:rPr>
              <a:t>• Policy &amp; Network: </a:t>
            </a:r>
            <a:r>
              <a:rPr sz="950">
                <a:solidFill>
                  <a:srgbClr val="475569"/>
                </a:solidFill>
              </a:rPr>
              <a:t>Cilium eBPF CNI default-deny, Open Policy Agent (OPA Rego PDP), HashiCorp Vault.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F172A"/>
                </a:solidFill>
              </a:rPr>
              <a:t>• Cryptographic Engine: </a:t>
            </a:r>
            <a:r>
              <a:rPr sz="950">
                <a:solidFill>
                  <a:srgbClr val="475569"/>
                </a:solidFill>
              </a:rPr>
              <a:t>SHA-256 Hash Chaining, Merkle Tree Root Anchoring, WORM Append-Only Ledger.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F172A"/>
                </a:solidFill>
              </a:rPr>
              <a:t>• Isolation Primitives: </a:t>
            </a:r>
            <a:r>
              <a:rPr sz="950">
                <a:solidFill>
                  <a:srgbClr val="475569"/>
                </a:solidFill>
              </a:rPr>
              <a:t>Linux cgroups v2, NUMA node-affinity pinning, Dropped kernel capabilities.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  <a:latin typeface="Montserrat"/>
              </a:defRPr>
            </a:pPr>
            <a:r>
              <a:t>Deterministic 5-Step Data Flow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0284C7"/>
                </a:solidFill>
              </a:rPr>
              <a:t>1. Encrypted Ingestion: </a:t>
            </a:r>
            <a:r>
              <a:rPr sz="950">
                <a:solidFill>
                  <a:srgbClr val="475569"/>
                </a:solidFill>
              </a:rPr>
              <a:t>Red submits attack payload; Broker checks mTLS capability token via OPA.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0284C7"/>
                </a:solidFill>
              </a:rPr>
              <a:t>2. Dedicated Spawn: </a:t>
            </a:r>
            <a:r>
              <a:rPr sz="950">
                <a:solidFill>
                  <a:srgbClr val="475569"/>
                </a:solidFill>
              </a:rPr>
              <a:t>Fresh Model Worker instantiated; SHA-256 golden weight verified (cold cache).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0284C7"/>
                </a:solidFill>
              </a:rPr>
              <a:t>3. Isolated Inference: </a:t>
            </a:r>
            <a:r>
              <a:rPr sz="950">
                <a:solidFill>
                  <a:srgbClr val="475569"/>
                </a:solidFill>
              </a:rPr>
              <a:t>Model processes single prompt with zero network egress and quantized latency.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0284C7"/>
                </a:solidFill>
              </a:rPr>
              <a:t>4. Canary Verification: </a:t>
            </a:r>
            <a:r>
              <a:rPr sz="950">
                <a:solidFill>
                  <a:srgbClr val="475569"/>
                </a:solidFill>
              </a:rPr>
              <a:t>Automated canary executed; 5-factor integrity checklist certified.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0284C7"/>
                </a:solidFill>
              </a:rPr>
              <a:t>5. Scrub &amp; Commit: </a:t>
            </a:r>
            <a:r>
              <a:rPr sz="950">
                <a:solidFill>
                  <a:srgbClr val="475569"/>
                </a:solidFill>
              </a:rPr>
              <a:t>Blue evaluates sanitized output; worker scrubbed; transaction hashed into Merkle tree.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601200" y="8046720"/>
            <a:ext cx="74980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692640" y="8092440"/>
            <a:ext cx="7315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284C7"/>
                </a:solidFill>
              </a:defRPr>
            </a:pPr>
            <a:r>
              <a:t>⚡ PERFORMANCE &amp; MEDIATION GUARANTEE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Uniform 250ms latency quantization • 100% Policy Mediation • REST APIs: /api/session/*, /api/audit/*, /api/model/*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/>
        </p:nvSpPr>
        <p:spPr>
          <a:xfrm>
            <a:off x="731520" y="1261872"/>
            <a:ext cx="1645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  <a:defRPr sz="2500" b="1">
                <a:solidFill>
                  <a:srgbClr val="0F172A"/>
                </a:solidFill>
                <a:latin typeface="Montserrat"/>
              </a:defRPr>
            </a:pPr>
            <a:r>
              <a:rPr b="1" i="0" lang="en-US" sz="3095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MARKET RESEARCH/ANALYSIS</a:t>
            </a:r>
            <a:endParaRPr/>
          </a:p>
        </p:txBody>
      </p:sp>
      <p:pic>
        <p:nvPicPr>
          <p:cNvPr id="125" name="Google Shape;125;p17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TextBox 125"/>
          <p:cNvSpPr txBox="1"/>
          <p:nvPr/>
        </p:nvSpPr>
        <p:spPr>
          <a:xfrm>
            <a:off x="731520" y="1783080"/>
            <a:ext cx="1645920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IBM Plex Sans"/>
              </a:defRPr>
            </a:pPr>
            <a:r>
              <a:t>Market Sizing, Target Segments, Business Model &amp; Growth Opportunities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731520" y="2331720"/>
            <a:ext cx="3977639" cy="6858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960120" y="2514600"/>
            <a:ext cx="201168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TARGET USERS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0120" y="2880360"/>
            <a:ext cx="3520439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Montserrat"/>
              </a:defRPr>
            </a:pPr>
            <a:r>
              <a:t>Key User Segments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Frontier AI Labs: </a:t>
            </a:r>
            <a:r>
              <a:rPr sz="1000">
                <a:solidFill>
                  <a:srgbClr val="475569"/>
                </a:solidFill>
              </a:rPr>
              <a:t>OpenAI, Anthropic, Google DeepMind, Meta conducting pre-deployment red teaming with external whitehats.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Enterprise AI Adopters: </a:t>
            </a:r>
            <a:r>
              <a:rPr sz="1000">
                <a:solidFill>
                  <a:srgbClr val="475569"/>
                </a:solidFill>
              </a:rPr>
              <a:t>Fortune 500 banks, healthcare networks, and defense contractors evaluating vendor LLMs before rollout.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Third-Party Auditing Firms: </a:t>
            </a:r>
            <a:r>
              <a:rPr sz="1000">
                <a:solidFill>
                  <a:srgbClr val="475569"/>
                </a:solidFill>
              </a:rPr>
              <a:t>Independent AI assurance providers certifying compliance with EU AI Act &amp; NIST AI RMF.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Academic Safety Labs: </a:t>
            </a:r>
            <a:r>
              <a:rPr sz="1000">
                <a:solidFill>
                  <a:srgbClr val="475569"/>
                </a:solidFill>
              </a:rPr>
              <a:t>Universities and independent researchers requiring reproducible, zero-trust evaluation testbeds.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960120" y="7909560"/>
            <a:ext cx="352043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51560" y="7955280"/>
            <a:ext cx="333755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284C7"/>
                </a:solidFill>
              </a:defRPr>
            </a:pPr>
            <a:r>
              <a:t>🎯 PRIMARY BUYER PERSONA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Chief Information Security Officers (CISOs) &amp; AI Safety Compliance Officers in Fortune 500.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937760" y="2331720"/>
            <a:ext cx="3977639" cy="6858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5166360" y="2514600"/>
            <a:ext cx="2011680" cy="29260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MARKET SIZE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166360" y="2880360"/>
            <a:ext cx="3520439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Montserrat"/>
              </a:defRPr>
            </a:pPr>
            <a:r>
              <a:t>Market Sizing Analysis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TAM ($14.2B by 2030): </a:t>
            </a:r>
            <a:r>
              <a:rPr sz="1000">
                <a:solidFill>
                  <a:srgbClr val="475569"/>
                </a:solidFill>
              </a:rPr>
              <a:t>Global AI Governance, Risk &amp; Compliance (GRC) and AI Cybersecurity market growing at 36.8% CAGR.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SAM ($3.8B by 2028): </a:t>
            </a:r>
            <a:r>
              <a:rPr sz="1000">
                <a:solidFill>
                  <a:srgbClr val="475569"/>
                </a:solidFill>
              </a:rPr>
              <a:t>Automated AI Red-Teaming, Model Robustness Testing, and Adversarial Assurance tooling.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SOM ($480M): </a:t>
            </a:r>
            <a:r>
              <a:rPr sz="1000">
                <a:solidFill>
                  <a:srgbClr val="475569"/>
                </a:solidFill>
              </a:rPr>
              <a:t>Confidential multi-tenant hardware-isolated AI evaluation infrastructure &amp; verification services.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Macro Driver: </a:t>
            </a:r>
            <a:r>
              <a:rPr sz="1000">
                <a:solidFill>
                  <a:srgbClr val="475569"/>
                </a:solidFill>
              </a:rPr>
              <a:t>Shift from voluntary self-reporting to legally mandated compliance audits across US, EU, and Asia-Pacific.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166360" y="7909560"/>
            <a:ext cx="352043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257800" y="7955280"/>
            <a:ext cx="333755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0B981"/>
                </a:solidFill>
              </a:defRPr>
            </a:pPr>
            <a:r>
              <a:t>📈 GROWTH ACCELERATION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36.8% CAGR driven by mandatory compliance milestones for frontier AI models.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9144000" y="2331720"/>
            <a:ext cx="3977639" cy="6858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ounded Rectangle 137"/>
          <p:cNvSpPr/>
          <p:nvPr/>
        </p:nvSpPr>
        <p:spPr>
          <a:xfrm>
            <a:off x="9372600" y="2514600"/>
            <a:ext cx="2194560" cy="2926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REVENUE MODEL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372600" y="2880360"/>
            <a:ext cx="3520439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Montserrat"/>
              </a:defRPr>
            </a:pPr>
            <a:r>
              <a:t>Commercialization Tiers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Tier 1: Cloud Verification SaaS: </a:t>
            </a:r>
            <a:r>
              <a:rPr sz="1000">
                <a:solidFill>
                  <a:srgbClr val="475569"/>
                </a:solidFill>
              </a:rPr>
              <a:t>Usage-based pricing per red-team session ($0.85/turn) + dedicated microVM compute-hour billing for continuous red teaming.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Tier 2: Enterprise Appliance: </a:t>
            </a:r>
            <a:r>
              <a:rPr sz="1000">
                <a:solidFill>
                  <a:srgbClr val="475569"/>
                </a:solidFill>
              </a:rPr>
              <a:t>Air-gapped on-premise software license ($120k/yr per cluster) for defense, intelligence, and tier-1 banks.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Tier 3: Audit Provenance Badges: </a:t>
            </a:r>
            <a:r>
              <a:rPr sz="1000">
                <a:solidFill>
                  <a:srgbClr val="475569"/>
                </a:solidFill>
              </a:rPr>
              <a:t>Cryptographic WORM verification and Merkle certification seals for official regulatory filings ($15k/model release).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Tier 4: Benchmark Ecosystem: </a:t>
            </a:r>
            <a:r>
              <a:rPr sz="1000">
                <a:solidFill>
                  <a:srgbClr val="475569"/>
                </a:solidFill>
              </a:rPr>
              <a:t>Premium benchmark repository integrations and adversarial payload subscriptions.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9372600" y="7909560"/>
            <a:ext cx="352043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464040" y="7955280"/>
            <a:ext cx="333755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</a:defRPr>
            </a:pPr>
            <a:r>
              <a:t>💰 UNIT ECONOMICS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78% Gross Margin on Cloud SaaS; High Annual Contract Value ($120k+) on Enterprise.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3350240" y="2331720"/>
            <a:ext cx="3977639" cy="6858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13578840" y="2514600"/>
            <a:ext cx="2286000" cy="29260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0F172A"/>
                </a:solidFill>
                <a:latin typeface="IBM Plex Sans"/>
              </a:defRPr>
            </a:pPr>
            <a:r>
              <a:t>GROWTH &amp; MOAT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3578840" y="2880360"/>
            <a:ext cx="3520439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Montserrat"/>
              </a:defRPr>
            </a:pPr>
            <a:r>
              <a:t>Defensibility &amp; Projections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EU AI Act Catalyst: </a:t>
            </a:r>
            <a:r>
              <a:rPr sz="1000">
                <a:solidFill>
                  <a:srgbClr val="475569"/>
                </a:solidFill>
              </a:rPr>
              <a:t>Articles 53 &amp; 55 mandate adversarial testing &amp; tamper-proof audit trails for general-purpose AI models, effective 2026/2027.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NIST AI RMF Alignment: </a:t>
            </a:r>
            <a:r>
              <a:rPr sz="1000">
                <a:solidFill>
                  <a:srgbClr val="475569"/>
                </a:solidFill>
              </a:rPr>
              <a:t>Directly addresses NIST SP 800-218A &amp; Executive Order 14110 evaluation integrity standards.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Unmatched Moat: </a:t>
            </a:r>
            <a:r>
              <a:rPr sz="1000">
                <a:solidFill>
                  <a:srgbClr val="475569"/>
                </a:solidFill>
              </a:rPr>
              <a:t>First-mover combining hardware microVM isolation with cryptographic WORM auditability; zero direct competitors in adversarial multi-tenancy.</a:t>
            </a:r>
          </a:p>
          <a:p>
            <a:pPr>
              <a:spcBef>
                <a:spcPts val="1000"/>
              </a:spcBef>
            </a:pPr>
            <a:r>
              <a:rPr b="1" sz="1050">
                <a:solidFill>
                  <a:srgbClr val="0F172A"/>
                </a:solidFill>
              </a:rPr>
              <a:t>• 240% Projected YoY Growth: </a:t>
            </a:r>
            <a:r>
              <a:rPr sz="1000">
                <a:solidFill>
                  <a:srgbClr val="475569"/>
                </a:solidFill>
              </a:rPr>
              <a:t>Driven by regulatory penalties (up to €35M or 7% global turnover for unverified models).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3578840" y="7909560"/>
            <a:ext cx="352043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3670280" y="7955280"/>
            <a:ext cx="333755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59E0B"/>
                </a:solidFill>
              </a:defRPr>
            </a:pPr>
            <a:r>
              <a:t>🛡️ COMPETITIVE ADVANTAGE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Patented state machine &amp; microVM isolation architecture creates massive technical switching moat.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8"/>
          <p:cNvSpPr txBox="1"/>
          <p:nvPr/>
        </p:nvSpPr>
        <p:spPr>
          <a:xfrm>
            <a:off x="731520" y="1261872"/>
            <a:ext cx="1645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  <a:defRPr sz="2500" b="1">
                <a:solidFill>
                  <a:srgbClr val="0F172A"/>
                </a:solidFill>
                <a:latin typeface="Montserrat"/>
              </a:defRPr>
            </a:pPr>
            <a:r>
              <a:rPr b="1" i="0" lang="en-US" sz="3095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FUTURE SCOPE</a:t>
            </a:r>
            <a:endParaRPr/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3095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4" name="Google Shape;134;p18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TextBox 134"/>
          <p:cNvSpPr txBox="1"/>
          <p:nvPr/>
        </p:nvSpPr>
        <p:spPr>
          <a:xfrm>
            <a:off x="731520" y="1783080"/>
            <a:ext cx="1645920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IBM Plex Sans"/>
              </a:defRPr>
            </a:pPr>
            <a:r>
              <a:t>Product Roadmap, Technical Milestones &amp; Global Scalability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731520" y="2331720"/>
            <a:ext cx="16642080" cy="15727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1005840" y="2514600"/>
            <a:ext cx="2377440" cy="2743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PHASE 1 (Q1-Q2 2027)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66160" y="2423160"/>
            <a:ext cx="1353312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Montserrat"/>
              </a:rPr>
              <a:t>Confidential Computing (TEE) Enclaves  </a:t>
            </a:r>
            <a:r>
              <a:rPr sz="1150" b="0">
                <a:solidFill>
                  <a:srgbClr val="0284C7"/>
                </a:solidFill>
                <a:latin typeface="IBM Plex Sans"/>
              </a:rPr>
              <a:t>• Hardware-Rooted Zero-Trust Hypervisor Protection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IBM Plex Sans"/>
              </a:defRPr>
            </a:pPr>
            <a:r>
              <a:t>Integrate hardware enclaves (Intel TDX, AMD SEV-SNP, NVIDIA H100/B200 Confidential Computing GPUs). Protects model weights, prompt payloads, and evaluation intermediate activations against compromised cloud hypervisors and host infrastructure operators.</a:t>
            </a:r>
          </a:p>
          <a:p>
            <a:pPr>
              <a:spcBef>
                <a:spcPts val="300"/>
              </a:spcBef>
            </a:pPr>
            <a:r>
              <a:rPr sz="950" b="1">
                <a:solidFill>
                  <a:srgbClr val="0F172A"/>
                </a:solidFill>
                <a:latin typeface="IBM Plex Sans"/>
              </a:rPr>
              <a:t>📌 Milestones: Intel TDX microVM attestation • AMD SEV-SNP memory encryption • Confidential GPU memory scrubbing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731520" y="4069080"/>
            <a:ext cx="16642080" cy="15727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1005840" y="4251960"/>
            <a:ext cx="2377440" cy="27432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PHASE 2 (Q2-Q3 2027)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566160" y="4160520"/>
            <a:ext cx="1353312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Montserrat"/>
              </a:rPr>
              <a:t>Autonomous Agentic Red-Teaming Swarms  </a:t>
            </a:r>
            <a:r>
              <a:rPr sz="1150" b="0">
                <a:solidFill>
                  <a:srgbClr val="8B5CF6"/>
                </a:solidFill>
                <a:latin typeface="IBM Plex Sans"/>
              </a:rPr>
              <a:t>• AI-Driven Adaptive Exploit Generation &amp; Self-Play Tournaments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IBM Plex Sans"/>
              </a:defRPr>
            </a:pPr>
            <a:r>
              <a:t>Deploy multi-agent adversarial swarms powered by algorithmic jailbreak generators (PAIR, TAP, Tree-of-Attacks). Enable self-improving red-vs-blue adversarial tournaments running inside hardware-isolated sandboxes with zero state leakage.</a:t>
            </a:r>
          </a:p>
          <a:p>
            <a:pPr>
              <a:spcBef>
                <a:spcPts val="300"/>
              </a:spcBef>
            </a:pPr>
            <a:r>
              <a:rPr sz="950" b="1">
                <a:solidFill>
                  <a:srgbClr val="0F172A"/>
                </a:solidFill>
                <a:latin typeface="IBM Plex Sans"/>
              </a:rPr>
              <a:t>📌 Milestones: Multi-turn evolutionary prompt optimization • Steganographic payload detector • Agentic policy negotiation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31520" y="5806440"/>
            <a:ext cx="16642080" cy="15727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1005840" y="5989320"/>
            <a:ext cx="2377440" cy="2743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PHASE 3 (Q3-Q4 2027)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66160" y="5897880"/>
            <a:ext cx="1353312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Montserrat"/>
              </a:rPr>
              <a:t>Sovereign Enterprise &amp; CI/CD Integrations  </a:t>
            </a:r>
            <a:r>
              <a:rPr sz="1150" b="0">
                <a:solidFill>
                  <a:srgbClr val="10B981"/>
                </a:solidFill>
                <a:latin typeface="IBM Plex Sans"/>
              </a:rPr>
              <a:t>• Native DevSecOps Tooling &amp; Air-Gapped Deployments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IBM Plex Sans"/>
              </a:defRPr>
            </a:pPr>
            <a:r>
              <a:t>Deliver native Kubernetes CRDs, Helm operators, and CI/CD security gate plugins (GitHub Actions / GitLab CI) enabling automated safety regression testing on every model commit. Provide air-gapped appliances for defense and intelligence agencies.</a:t>
            </a:r>
          </a:p>
          <a:p>
            <a:pPr>
              <a:spcBef>
                <a:spcPts val="300"/>
              </a:spcBef>
            </a:pPr>
            <a:r>
              <a:rPr sz="950" b="1">
                <a:solidFill>
                  <a:srgbClr val="0F172A"/>
                </a:solidFill>
                <a:latin typeface="IBM Plex Sans"/>
              </a:rPr>
              <a:t>📌 Milestones: Kubernetes Operator with custom AISafetyEvaluation CRD • GitHub Actions automated pull-request gate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731520" y="7543800"/>
            <a:ext cx="16642080" cy="15727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1005840" y="7726680"/>
            <a:ext cx="2377440" cy="2743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PHASE 4 (2028+)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566160" y="7635240"/>
            <a:ext cx="1353312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Montserrat"/>
              </a:rPr>
              <a:t>Decentralized Global Provenance Ledger Mesh  </a:t>
            </a:r>
            <a:r>
              <a:rPr sz="1150" b="0">
                <a:solidFill>
                  <a:srgbClr val="F59E0B"/>
                </a:solidFill>
                <a:latin typeface="IBM Plex Sans"/>
              </a:rPr>
              <a:t>• Universal Multi-Cloud WORM Transparency Federation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IBM Plex Sans"/>
              </a:defRPr>
            </a:pPr>
            <a:r>
              <a:t>Federate session Merkle root commitments across public transparency ledgers (Sigstore/Rekor and Ethereum L2s) scaling to 100,000+ concurrent microVM sessions across global multi-cloud regions with sub-second orchestration latency.</a:t>
            </a:r>
          </a:p>
          <a:p>
            <a:pPr>
              <a:spcBef>
                <a:spcPts val="300"/>
              </a:spcBef>
            </a:pPr>
            <a:r>
              <a:rPr sz="950" b="1">
                <a:solidFill>
                  <a:srgbClr val="0F172A"/>
                </a:solidFill>
                <a:latin typeface="IBM Plex Sans"/>
              </a:rPr>
              <a:t>📌 Milestones: Cross-border compliance ledger sync • Distributed Merkle proof verification • 100k concurrent microVM capacity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9"/>
          <p:cNvSpPr txBox="1"/>
          <p:nvPr/>
        </p:nvSpPr>
        <p:spPr>
          <a:xfrm>
            <a:off x="731520" y="1261872"/>
            <a:ext cx="1645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  <a:defRPr sz="2500" b="1">
                <a:solidFill>
                  <a:srgbClr val="0F172A"/>
                </a:solidFill>
                <a:latin typeface="Montserrat"/>
              </a:defRPr>
            </a:pPr>
            <a:r>
              <a:t>EMPIRICAL VERIFICATION &amp; ADVERSARIAL BENCHMARKS</a:t>
            </a:r>
            <a:endParaRPr/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3095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43" name="Google Shape;143;p19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TextBox 143"/>
          <p:cNvSpPr txBox="1"/>
          <p:nvPr/>
        </p:nvSpPr>
        <p:spPr>
          <a:xfrm>
            <a:off x="731520" y="1783080"/>
            <a:ext cx="1645920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IBM Plex Sans"/>
              </a:defRPr>
            </a:pPr>
            <a:r>
              <a:t>100% Pass Rate: 9/9 PoC Verification Demonstrations &amp; 7/7 Adversarial Attack Simulations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731520" y="2331720"/>
            <a:ext cx="8138160" cy="6858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1005840" y="2560320"/>
            <a:ext cx="3291840" cy="29260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POC TEST SUITE (§S) • 9/9 PASSED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05840" y="2926080"/>
            <a:ext cx="75895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Montserrat"/>
              </a:defRPr>
            </a:pPr>
            <a:r>
              <a:t>Cryptographically &amp; Logically Verified Isolation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[✓ PASS] [POC-01] Cross-Tenant Memory Secrecy: </a:t>
            </a:r>
            <a:r>
              <a:rPr sz="900">
                <a:solidFill>
                  <a:srgbClr val="475569"/>
                </a:solidFill>
              </a:rPr>
              <a:t>Red sandbox cannot read Blue tenant files/memory buffers.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[✓ PASS] [POC-02] Pre-Conclusion Payload Secrecy: </a:t>
            </a:r>
            <a:r>
              <a:rPr sz="900">
                <a:solidFill>
                  <a:srgbClr val="475569"/>
                </a:solidFill>
              </a:rPr>
              <a:t>Blue defender blind to upcoming Red payload before conclusion.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[✓ PASS] [POC-03] Cilium eBPF Default-Deny: </a:t>
            </a:r>
            <a:r>
              <a:rPr sz="900">
                <a:solidFill>
                  <a:srgbClr val="475569"/>
                </a:solidFill>
              </a:rPr>
              <a:t>Direct peer-to-peer connection attempts fail uniformly.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[✓ PASS] [POC-04] Kata microVM Capability Drop: </a:t>
            </a:r>
            <a:r>
              <a:rPr sz="900">
                <a:solidFill>
                  <a:srgbClr val="475569"/>
                </a:solidFill>
              </a:rPr>
              <a:t>CAP_NET_RAW, CAP_SYS_ADMIN, CAP_SYS_PTRACE strictly denied.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[✓ PASS] [POC-05] NUMA Quotas Under Pressure: </a:t>
            </a:r>
            <a:r>
              <a:rPr sz="900">
                <a:solidFill>
                  <a:srgbClr val="475569"/>
                </a:solidFill>
              </a:rPr>
              <a:t>Disjoint cgroup limits hold without cross-tenant starvation.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[✓ PASS] [POC-06] Cold KV-Cache Guarantee: </a:t>
            </a:r>
            <a:r>
              <a:rPr sz="900">
                <a:solidFill>
                  <a:srgbClr val="475569"/>
                </a:solidFill>
              </a:rPr>
              <a:t>Zero residual prompt tokens survive session destruction.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[✓ PASS] [POC-07] WORM Store Tamper Alarm: </a:t>
            </a:r>
            <a:r>
              <a:rPr sz="900">
                <a:solidFill>
                  <a:srgbClr val="475569"/>
                </a:solidFill>
              </a:rPr>
              <a:t>Modification of log record immediately breaks Merkle root.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[✓ PASS] [POC-08] In-Path Policy Drift Detection: </a:t>
            </a:r>
            <a:r>
              <a:rPr sz="900">
                <a:solidFill>
                  <a:srgbClr val="475569"/>
                </a:solidFill>
              </a:rPr>
              <a:t>Out-of-turn actions trigger immediate session abort.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[✓ PASS] [POC-09] Zero False Positive Failures: </a:t>
            </a:r>
            <a:r>
              <a:rPr sz="900">
                <a:solidFill>
                  <a:srgbClr val="475569"/>
                </a:solidFill>
              </a:rPr>
              <a:t>Network timeout classified as INFRA_FAILURE, not jailbreak.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1005840" y="8001000"/>
            <a:ext cx="75895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097280" y="8046720"/>
            <a:ext cx="7406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0B981"/>
                </a:solidFill>
              </a:defRPr>
            </a:pPr>
            <a:r>
              <a:t>✅ FORMAL SPECIFICATION VERIFICATION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Execute live verification suite: node test/poc_tests.js — 9/9 Passed with 100% boundary integrity.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9235440" y="2331720"/>
            <a:ext cx="8138160" cy="6858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9509760" y="2560320"/>
            <a:ext cx="3657600" cy="2926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ATTACK SIMULATIONS (§T) • 7/7 MITIGATED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509760" y="2926080"/>
            <a:ext cx="7589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Montserrat"/>
              </a:defRPr>
            </a:pPr>
            <a:r>
              <a:t>Real-World Adversarial Exploits Intercepted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8B5CF6"/>
                </a:solidFill>
              </a:rPr>
              <a:t>[🛡️ MITIGATED] [SIM-01] Cloud IMDS Breakout Probe: </a:t>
            </a:r>
            <a:r>
              <a:rPr sz="900">
                <a:solidFill>
                  <a:srgbClr val="475569"/>
                </a:solidFill>
              </a:rPr>
              <a:t>Blocked calls to 169.254.169.254, ptrace, and host /proc.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8B5CF6"/>
                </a:solidFill>
              </a:rPr>
              <a:t>[🛡️ MITIGATED] [SIM-02] Timing Side-Channel Probe: </a:t>
            </a:r>
            <a:r>
              <a:rPr sz="900">
                <a:solidFill>
                  <a:srgbClr val="475569"/>
                </a:solidFill>
              </a:rPr>
              <a:t>250ms bucketing quantizes raw 42ms/135ms to 250ms flat.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8B5CF6"/>
                </a:solidFill>
              </a:rPr>
              <a:t>[🛡️ MITIGATED] [SIM-03] KV-Cache Leakage Probe: </a:t>
            </a:r>
            <a:r>
              <a:rPr sz="900">
                <a:solidFill>
                  <a:srgbClr val="475569"/>
                </a:solidFill>
              </a:rPr>
              <a:t>Cold worker instantiation leaves 0 prefix bleed.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8B5CF6"/>
                </a:solidFill>
              </a:rPr>
              <a:t>[🛡️ MITIGATED] [SIM-04] Confused Deputy Escalation: </a:t>
            </a:r>
            <a:r>
              <a:rPr sz="900">
                <a:solidFill>
                  <a:srgbClr val="475569"/>
                </a:solidFill>
              </a:rPr>
              <a:t>Unscoped capability token rejected by in-path OPA PDP.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8B5CF6"/>
                </a:solidFill>
              </a:rPr>
              <a:t>[🛡️ MITIGATED] [SIM-05] WORM Log Cryptographic Tamper: </a:t>
            </a:r>
            <a:r>
              <a:rPr sz="900">
                <a:solidFill>
                  <a:srgbClr val="475569"/>
                </a:solidFill>
              </a:rPr>
              <a:t>Divergence detected; Merkle root proof validation fails.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8B5CF6"/>
                </a:solidFill>
              </a:rPr>
              <a:t>[🛡️ MITIGATED] [SIM-06] Canary Probe State Alarm: </a:t>
            </a:r>
            <a:r>
              <a:rPr sz="900">
                <a:solidFill>
                  <a:srgbClr val="475569"/>
                </a:solidFill>
              </a:rPr>
              <a:t>Weight drift triggers CONTAMINATED_INSTANCE purge.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8B5CF6"/>
                </a:solidFill>
              </a:rPr>
              <a:t>[🛡️ MITIGATED] [SIM-07] Chaos Fault-Injection Jitter: </a:t>
            </a:r>
            <a:r>
              <a:rPr sz="900">
                <a:solidFill>
                  <a:srgbClr val="475569"/>
                </a:solidFill>
              </a:rPr>
              <a:t>Network drop verified as INFRA_FAILURE, avoiding false pass.</a:t>
            </a:r>
          </a:p>
        </p:txBody>
      </p:sp>
      <p:pic>
        <p:nvPicPr>
          <p:cNvPr id="153" name="Picture 152" descr="demo_au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0" y="5943600"/>
            <a:ext cx="7589520" cy="1874519"/>
          </a:xfrm>
          <a:prstGeom prst="rect">
            <a:avLst/>
          </a:prstGeom>
        </p:spPr>
      </p:pic>
      <p:sp>
        <p:nvSpPr>
          <p:cNvPr id="154" name="Rounded Rectangle 153"/>
          <p:cNvSpPr/>
          <p:nvPr/>
        </p:nvSpPr>
        <p:spPr>
          <a:xfrm>
            <a:off x="9509760" y="7955279"/>
            <a:ext cx="75895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601200" y="8001000"/>
            <a:ext cx="7406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</a:defRPr>
            </a:pPr>
            <a:r>
              <a:t>📚 8 INTEGRATED SAFETY BENCHMARKS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AdvBench (520) • JailbreakBench (200) • HarmBench (400) • ToxiGen (27.4k) • Lakera (1k) • CVEs (320)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20" title="download (2).jpg"/>
          <p:cNvPicPr preferRelativeResize="0"/>
          <p:nvPr/>
        </p:nvPicPr>
        <p:blipFill rotWithShape="1">
          <a:blip r:embed="rId3">
            <a:alphaModFix/>
          </a:blip>
          <a:srcRect b="0" l="38928" r="16455" t="0"/>
          <a:stretch/>
        </p:blipFill>
        <p:spPr>
          <a:xfrm rot="-5400000">
            <a:off x="7123100" y="-7111200"/>
            <a:ext cx="4088375" cy="1832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0" title="Group 4809783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675" y="296224"/>
            <a:ext cx="7240346" cy="79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0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520575" y="296231"/>
            <a:ext cx="5599601" cy="791925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TextBox 159"/>
          <p:cNvSpPr txBox="1"/>
          <p:nvPr/>
        </p:nvSpPr>
        <p:spPr>
          <a:xfrm>
            <a:off x="1828800" y="4114800"/>
            <a:ext cx="12984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600" b="1">
                <a:solidFill>
                  <a:srgbClr val="0F172A"/>
                </a:solidFill>
                <a:latin typeface="Montserrat"/>
              </a:defRPr>
            </a:pPr>
            <a:r>
              <a:t>Thank You!</a:t>
            </a:r>
          </a:p>
          <a:p>
            <a:pPr algn="ctr">
              <a:spcBef>
                <a:spcPts val="400"/>
              </a:spcBef>
              <a:defRPr sz="1700" b="1">
                <a:solidFill>
                  <a:srgbClr val="0284C7"/>
                </a:solidFill>
                <a:latin typeface="IBM Plex Sans"/>
              </a:defRPr>
            </a:pPr>
            <a:r>
              <a:t>Questions, Live Demonstration &amp; Technical Discussion Welcomed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2286000" y="5760720"/>
            <a:ext cx="1207008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2560320" y="5943600"/>
            <a:ext cx="11521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Montserrat"/>
              </a:defRPr>
            </a:pPr>
            <a:r>
              <a:t>BAYORA: THE TRUSTED FOUNDATION FOR ADVANCED AI SAFETY</a:t>
            </a:r>
          </a:p>
          <a:p>
            <a:pPr algn="ctr">
              <a:spcBef>
                <a:spcPts val="600"/>
              </a:spcBef>
              <a:defRPr sz="1150" b="1">
                <a:solidFill>
                  <a:srgbClr val="475569"/>
                </a:solidFill>
                <a:latin typeface="IBM Plex Sans"/>
              </a:defRPr>
            </a:pPr>
            <a:r>
              <a:t>Open Source Production Reference Implementation • Hack in hILL 2026</a:t>
            </a:r>
          </a:p>
          <a:p>
            <a:pPr algn="ctr">
              <a:spcBef>
                <a:spcPts val="800"/>
              </a:spcBef>
              <a:defRPr sz="1200" b="1">
                <a:solidFill>
                  <a:srgbClr val="0284C7"/>
                </a:solidFill>
                <a:latin typeface="IBM Plex Sans"/>
              </a:defRPr>
            </a:pPr>
            <a:r>
              <a:t>🔗 GitHub Repository: https://github.com/cyber-anshuman/bayora-secure-ai-safety</a:t>
            </a:r>
          </a:p>
          <a:p>
            <a:pPr algn="ctr">
              <a:spcBef>
                <a:spcPts val="500"/>
              </a:spcBef>
              <a:defRPr sz="1100">
                <a:solidFill>
                  <a:srgbClr val="475569"/>
                </a:solidFill>
                <a:latin typeface="IBM Plex Sans"/>
              </a:defRPr>
            </a:pPr>
            <a:r>
              <a:t>👤 Lead Architect &amp; Developer: Anshuman Patel (anshumanpatel.in@gmail.com)</a:t>
            </a:r>
          </a:p>
          <a:p>
            <a:pPr algn="ctr">
              <a:spcBef>
                <a:spcPts val="500"/>
              </a:spcBef>
              <a:defRPr sz="1100">
                <a:solidFill>
                  <a:srgbClr val="0F172A"/>
                </a:solidFill>
                <a:latin typeface="IBM Plex Sans"/>
              </a:defRPr>
            </a:pPr>
            <a:r>
              <a:t>🖥️ Live Interactive Command Center: http://localhost:3000 (Topology, State Stepper &amp; WORM Explorer)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474720" y="8183879"/>
            <a:ext cx="219456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Apache-2.0 License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852160" y="8183879"/>
            <a:ext cx="2377440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9/9 PoC Tests Passed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8412480" y="8183879"/>
            <a:ext cx="256032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7/7 Attacks Mitigated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11155680" y="8183879"/>
            <a:ext cx="2194560" cy="3200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36576" bIns="36576"/>
          <a:lstStyle/>
          <a:p>
            <a:pPr algn="ctr">
              <a:defRPr sz="950" b="1">
                <a:solidFill>
                  <a:srgbClr val="FFFFFF"/>
                </a:solidFill>
                <a:latin typeface="IBM Plex Sans"/>
              </a:defRPr>
            </a:pPr>
            <a:r>
              <a:t>8 Safety Datasets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